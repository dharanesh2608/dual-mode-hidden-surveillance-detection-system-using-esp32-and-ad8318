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_rels/slideLayout9.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_rels/presentation.xml.rels" ContentType="application/vnd.openxmlformats-package.relationships+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_rels/slide9.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media/image9.jpeg" ContentType="image/jpeg"/>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Override PartName="/ppt/media/image10.jpeg" ContentType="image/jpeg"/>
  <Override PartName="/ppt/media/image11.jpeg" ContentType="image/jpeg"/>
  <Override PartName="/ppt/media/image12.jpeg" ContentType="image/jpeg"/>
  <Override PartName="/ppt/media/image13.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41" name="PlaceHolder 2"/>
          <p:cNvSpPr>
            <a:spLocks noGrp="1"/>
          </p:cNvSpPr>
          <p:nvPr>
            <p:ph type="subTitle"/>
          </p:nvPr>
        </p:nvSpPr>
        <p:spPr>
          <a:xfrm>
            <a:off x="609480" y="1604520"/>
            <a:ext cx="10972440" cy="397728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43"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45"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46"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5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51"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52"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54"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55"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56"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58"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60"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62"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63"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67"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68"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rIns="0" tIns="0" bIns="0" anchor="ctr">
            <a:spAutoFit/>
          </a:bodyPr>
          <a:p>
            <a:pPr algn="ctr"/>
            <a:endParaRPr b="0" lang="en-US" sz="4400" spc="-1" strike="noStrike">
              <a:latin typeface="Arial"/>
            </a:endParaRPr>
          </a:p>
        </p:txBody>
      </p:sp>
      <p:sp>
        <p:nvSpPr>
          <p:cNvPr id="70"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71"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72"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73"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74"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75"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454680"/>
            <a:ext cx="10514880" cy="1145160"/>
          </a:xfrm>
          <a:prstGeom prst="rect">
            <a:avLst/>
          </a:prstGeom>
        </p:spPr>
        <p:txBody>
          <a:bodyPr lIns="0" rIns="0" tIns="0" bIns="0" anchor="ctr">
            <a:spAutoFit/>
          </a:bodyPr>
          <a:p>
            <a:r>
              <a:rPr b="0" lang="en-US" sz="1800" spc="-1" strike="noStrike">
                <a:latin typeface="Arial"/>
              </a:rPr>
              <a:t>Click to edit the title text format</a:t>
            </a:r>
            <a:endParaRPr b="0" lang="en-US" sz="18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39"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image" Target="../media/image5.jpeg"/><Relationship Id="rId4" Type="http://schemas.openxmlformats.org/officeDocument/2006/relationships/image" Target="../media/image6.jpe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image" Target="../media/image9.jpeg"/><Relationship Id="rId8" Type="http://schemas.openxmlformats.org/officeDocument/2006/relationships/image" Target="../media/image10.jpeg"/><Relationship Id="rId9"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CustomShape 1"/>
          <p:cNvSpPr/>
          <p:nvPr/>
        </p:nvSpPr>
        <p:spPr>
          <a:xfrm>
            <a:off x="1371600" y="2103480"/>
            <a:ext cx="9143280" cy="4479840"/>
          </a:xfrm>
          <a:prstGeom prst="rect">
            <a:avLst/>
          </a:prstGeom>
          <a:noFill/>
          <a:ln>
            <a:noFill/>
          </a:ln>
        </p:spPr>
        <p:style>
          <a:lnRef idx="0"/>
          <a:fillRef idx="0"/>
          <a:effectRef idx="0"/>
          <a:fontRef idx="minor"/>
        </p:style>
        <p:txBody>
          <a:bodyPr lIns="90000" rIns="90000" tIns="45000" bIns="45000">
            <a:normAutofit fontScale="75000"/>
          </a:bodyPr>
          <a:p>
            <a:pPr algn="ctr">
              <a:lnSpc>
                <a:spcPct val="90000"/>
              </a:lnSpc>
              <a:spcBef>
                <a:spcPts val="1001"/>
              </a:spcBef>
            </a:pPr>
            <a:r>
              <a:rPr b="0" lang="en-US" sz="2400" spc="-1" strike="noStrike">
                <a:solidFill>
                  <a:srgbClr val="000000"/>
                </a:solidFill>
                <a:latin typeface="Calibri"/>
              </a:rPr>
              <a:t> </a:t>
            </a:r>
            <a:r>
              <a:rPr b="1" lang="en-US" sz="2400" spc="-1" strike="noStrike">
                <a:solidFill>
                  <a:srgbClr val="000000"/>
                </a:solidFill>
                <a:latin typeface="Times New Roman"/>
              </a:rPr>
              <a:t>Under the guidance of </a:t>
            </a:r>
            <a:endParaRPr b="0" lang="en-US" sz="2400" spc="-1" strike="noStrike">
              <a:latin typeface="Arial"/>
            </a:endParaRPr>
          </a:p>
          <a:p>
            <a:pPr algn="ctr">
              <a:lnSpc>
                <a:spcPct val="90000"/>
              </a:lnSpc>
              <a:spcBef>
                <a:spcPts val="1001"/>
              </a:spcBef>
            </a:pPr>
            <a:r>
              <a:rPr b="0" lang="en-US" sz="2400" spc="-1" strike="noStrike">
                <a:solidFill>
                  <a:srgbClr val="000000"/>
                </a:solidFill>
                <a:latin typeface="Calibri"/>
              </a:rPr>
              <a:t> </a:t>
            </a:r>
            <a:r>
              <a:rPr b="1" lang="en-US" sz="2200" spc="-1" strike="noStrike">
                <a:solidFill>
                  <a:srgbClr val="000000"/>
                </a:solidFill>
                <a:latin typeface="Times New Roman"/>
              </a:rPr>
              <a:t>Mrs.M.Swetha </a:t>
            </a:r>
            <a:endParaRPr b="0" lang="en-US" sz="2200" spc="-1" strike="noStrike">
              <a:latin typeface="Arial"/>
            </a:endParaRPr>
          </a:p>
          <a:p>
            <a:pPr algn="ctr">
              <a:lnSpc>
                <a:spcPct val="90000"/>
              </a:lnSpc>
              <a:spcBef>
                <a:spcPts val="1001"/>
              </a:spcBef>
            </a:pPr>
            <a:r>
              <a:rPr b="0" lang="en-US" sz="2400" spc="-1" strike="noStrike">
                <a:solidFill>
                  <a:srgbClr val="000000"/>
                </a:solidFill>
                <a:latin typeface="Calibri"/>
              </a:rPr>
              <a:t>     </a:t>
            </a:r>
            <a:r>
              <a:rPr b="0" lang="en-US" sz="1900" spc="-1" strike="noStrike">
                <a:solidFill>
                  <a:srgbClr val="000000"/>
                </a:solidFill>
                <a:latin typeface="Times New Roman"/>
              </a:rPr>
              <a:t>Assistant Professor</a:t>
            </a:r>
            <a:endParaRPr b="0" lang="en-US" sz="1900" spc="-1" strike="noStrike">
              <a:latin typeface="Arial"/>
            </a:endParaRPr>
          </a:p>
          <a:p>
            <a:pPr algn="ctr">
              <a:lnSpc>
                <a:spcPct val="90000"/>
              </a:lnSpc>
              <a:spcBef>
                <a:spcPts val="1001"/>
              </a:spcBef>
            </a:pPr>
            <a:endParaRPr b="0" lang="en-US" sz="1900" spc="-1" strike="noStrike">
              <a:latin typeface="Arial"/>
            </a:endParaRPr>
          </a:p>
          <a:p>
            <a:pPr algn="ctr">
              <a:lnSpc>
                <a:spcPct val="90000"/>
              </a:lnSpc>
              <a:spcBef>
                <a:spcPts val="1001"/>
              </a:spcBef>
            </a:pPr>
            <a:r>
              <a:rPr b="1" lang="en-US" sz="2000" spc="-1" strike="noStrike">
                <a:solidFill>
                  <a:srgbClr val="000000"/>
                </a:solidFill>
                <a:latin typeface="Calibri"/>
              </a:rPr>
              <a:t>Submitted by </a:t>
            </a:r>
            <a:endParaRPr b="0" lang="en-US" sz="2000" spc="-1" strike="noStrike">
              <a:latin typeface="Arial"/>
            </a:endParaRPr>
          </a:p>
          <a:p>
            <a:pPr>
              <a:lnSpc>
                <a:spcPct val="90000"/>
              </a:lnSpc>
              <a:spcBef>
                <a:spcPts val="1001"/>
              </a:spcBef>
            </a:pPr>
            <a:endParaRPr b="0" lang="en-US" sz="2000" spc="-1" strike="noStrike">
              <a:latin typeface="Arial"/>
            </a:endParaRPr>
          </a:p>
          <a:p>
            <a:pPr>
              <a:lnSpc>
                <a:spcPct val="90000"/>
              </a:lnSpc>
              <a:spcBef>
                <a:spcPts val="1001"/>
              </a:spcBef>
            </a:pPr>
            <a:r>
              <a:rPr b="0" lang="en-US" sz="1800" spc="-1" strike="noStrike">
                <a:solidFill>
                  <a:srgbClr val="000000"/>
                </a:solidFill>
                <a:latin typeface="Calibri"/>
              </a:rPr>
              <a:t>	</a:t>
            </a:r>
            <a:r>
              <a:rPr b="0" lang="en-US" sz="1800" spc="-1" strike="noStrike">
                <a:solidFill>
                  <a:srgbClr val="000000"/>
                </a:solidFill>
                <a:latin typeface="Calibri"/>
              </a:rPr>
              <a:t>	</a:t>
            </a:r>
            <a:r>
              <a:rPr b="0" lang="en-US" sz="1800" spc="-1" strike="noStrike">
                <a:solidFill>
                  <a:srgbClr val="000000"/>
                </a:solidFill>
                <a:latin typeface="Calibri"/>
              </a:rPr>
              <a:t>         </a:t>
            </a:r>
            <a:r>
              <a:rPr b="0" lang="en-US" sz="1800" spc="-1" strike="noStrike">
                <a:solidFill>
                  <a:srgbClr val="000000"/>
                </a:solidFill>
                <a:latin typeface="Calibri"/>
              </a:rPr>
              <a:t>	</a:t>
            </a:r>
            <a:r>
              <a:rPr b="0" lang="en-US" sz="1800" spc="-1" strike="noStrike">
                <a:solidFill>
                  <a:srgbClr val="000000"/>
                </a:solidFill>
                <a:latin typeface="Calibri"/>
              </a:rPr>
              <a:t>	</a:t>
            </a:r>
            <a:r>
              <a:rPr b="0" lang="en-US" sz="1800" spc="-1" strike="noStrike">
                <a:solidFill>
                  <a:srgbClr val="000000"/>
                </a:solidFill>
                <a:latin typeface="Calibri"/>
              </a:rPr>
              <a:t>                                                              </a:t>
            </a:r>
            <a:r>
              <a:rPr b="1" lang="en-US" sz="2100" spc="-1" strike="noStrike">
                <a:solidFill>
                  <a:srgbClr val="000000"/>
                </a:solidFill>
                <a:latin typeface="Times New Roman"/>
              </a:rPr>
              <a:t>TEAM-14A</a:t>
            </a:r>
            <a:endParaRPr b="0" lang="en-US" sz="2100" spc="-1" strike="noStrike">
              <a:latin typeface="Arial"/>
            </a:endParaRPr>
          </a:p>
          <a:p>
            <a:pPr>
              <a:lnSpc>
                <a:spcPct val="90000"/>
              </a:lnSpc>
              <a:spcBef>
                <a:spcPts val="1001"/>
              </a:spcBef>
            </a:pPr>
            <a:endParaRPr b="0" lang="en-US" sz="2100" spc="-1" strike="noStrike">
              <a:latin typeface="Arial"/>
            </a:endParaRPr>
          </a:p>
          <a:p>
            <a:pPr algn="just">
              <a:lnSpc>
                <a:spcPct val="90000"/>
              </a:lnSpc>
              <a:spcBef>
                <a:spcPts val="1001"/>
              </a:spcBef>
            </a:pPr>
            <a:r>
              <a:rPr b="1" lang="en-US" sz="1800" spc="-1" strike="noStrike">
                <a:solidFill>
                  <a:srgbClr val="000000"/>
                </a:solidFill>
                <a:latin typeface="Times New Roman"/>
              </a:rPr>
              <a:t>S.V.MADHAVI</a:t>
            </a:r>
            <a:r>
              <a:rPr b="1" lang="en-US" sz="1800" spc="-1" strike="noStrike">
                <a:solidFill>
                  <a:srgbClr val="000000"/>
                </a:solidFill>
                <a:latin typeface="Times New Roman"/>
              </a:rPr>
              <a:t>	</a:t>
            </a:r>
            <a:r>
              <a:rPr b="1" lang="en-US" sz="1800" spc="-1" strike="noStrike">
                <a:solidFill>
                  <a:srgbClr val="000000"/>
                </a:solidFill>
                <a:latin typeface="Times New Roman"/>
              </a:rPr>
              <a:t>  A22126552196                                       SHABANA PARVEEN </a:t>
            </a:r>
            <a:r>
              <a:rPr b="1" lang="en-US" sz="1800" spc="-1" strike="noStrike">
                <a:solidFill>
                  <a:srgbClr val="000000"/>
                </a:solidFill>
                <a:latin typeface="Times New Roman"/>
              </a:rPr>
              <a:t>	</a:t>
            </a:r>
            <a:r>
              <a:rPr b="1" lang="en-US" sz="1800" spc="-1" strike="noStrike">
                <a:solidFill>
                  <a:srgbClr val="000000"/>
                </a:solidFill>
                <a:latin typeface="Times New Roman"/>
              </a:rPr>
              <a:t>	</a:t>
            </a:r>
            <a:r>
              <a:rPr b="1" lang="en-US" sz="1800" spc="-1" strike="noStrike">
                <a:solidFill>
                  <a:srgbClr val="000000"/>
                </a:solidFill>
                <a:latin typeface="Times New Roman"/>
              </a:rPr>
              <a:t>             A22126552049</a:t>
            </a:r>
            <a:endParaRPr b="0" lang="en-US" sz="1800" spc="-1" strike="noStrike">
              <a:latin typeface="Arial"/>
            </a:endParaRPr>
          </a:p>
          <a:p>
            <a:pPr algn="just">
              <a:lnSpc>
                <a:spcPct val="90000"/>
              </a:lnSpc>
              <a:spcBef>
                <a:spcPts val="1001"/>
              </a:spcBef>
            </a:pPr>
            <a:r>
              <a:rPr b="1" lang="en-US" sz="1800" spc="-1" strike="noStrike">
                <a:solidFill>
                  <a:srgbClr val="000000"/>
                </a:solidFill>
                <a:latin typeface="Times New Roman"/>
              </a:rPr>
              <a:t>U.DHARANESH</a:t>
            </a:r>
            <a:r>
              <a:rPr b="1" lang="en-US" sz="1800" spc="-1" strike="noStrike">
                <a:solidFill>
                  <a:srgbClr val="000000"/>
                </a:solidFill>
                <a:latin typeface="Times New Roman"/>
              </a:rPr>
              <a:t>	</a:t>
            </a:r>
            <a:r>
              <a:rPr b="1" lang="en-US" sz="1800" spc="-1" strike="noStrike">
                <a:solidFill>
                  <a:srgbClr val="000000"/>
                </a:solidFill>
                <a:latin typeface="Times New Roman"/>
              </a:rPr>
              <a:t>  A22126552054</a:t>
            </a:r>
            <a:r>
              <a:rPr b="1" lang="en-US" sz="1800" spc="-1" strike="noStrike">
                <a:solidFill>
                  <a:srgbClr val="000000"/>
                </a:solidFill>
                <a:latin typeface="Times New Roman"/>
              </a:rPr>
              <a:t>	</a:t>
            </a:r>
            <a:r>
              <a:rPr b="1" lang="en-US" sz="1800" spc="-1" strike="noStrike">
                <a:solidFill>
                  <a:srgbClr val="000000"/>
                </a:solidFill>
                <a:latin typeface="Times New Roman"/>
              </a:rPr>
              <a:t>                                  P.YASWANTH  VARASAI             A22126552192</a:t>
            </a:r>
            <a:endParaRPr b="0" lang="en-US" sz="1800" spc="-1" strike="noStrike">
              <a:latin typeface="Arial"/>
            </a:endParaRPr>
          </a:p>
          <a:p>
            <a:pPr>
              <a:lnSpc>
                <a:spcPct val="90000"/>
              </a:lnSpc>
              <a:spcBef>
                <a:spcPts val="1001"/>
              </a:spcBef>
            </a:pPr>
            <a:endParaRPr b="0" lang="en-US" sz="1800" spc="-1" strike="noStrike">
              <a:latin typeface="Arial"/>
            </a:endParaRPr>
          </a:p>
          <a:p>
            <a:pPr algn="ctr">
              <a:lnSpc>
                <a:spcPct val="90000"/>
              </a:lnSpc>
              <a:spcBef>
                <a:spcPts val="1001"/>
              </a:spcBef>
            </a:pPr>
            <a:endParaRPr b="0" lang="en-US" sz="1800" spc="-1" strike="noStrike">
              <a:latin typeface="Arial"/>
            </a:endParaRPr>
          </a:p>
          <a:p>
            <a:pPr>
              <a:lnSpc>
                <a:spcPct val="90000"/>
              </a:lnSpc>
              <a:spcBef>
                <a:spcPts val="1001"/>
              </a:spcBef>
            </a:pPr>
            <a:r>
              <a:rPr b="0" lang="en-US" sz="1800" spc="-1" strike="noStrike">
                <a:solidFill>
                  <a:srgbClr val="000000"/>
                </a:solidFill>
                <a:latin typeface="Calibri"/>
              </a:rPr>
              <a:t> </a:t>
            </a:r>
            <a:endParaRPr b="0" lang="en-US" sz="1800" spc="-1" strike="noStrike">
              <a:latin typeface="Arial"/>
            </a:endParaRPr>
          </a:p>
        </p:txBody>
      </p:sp>
      <p:sp>
        <p:nvSpPr>
          <p:cNvPr id="77" name="CustomShape 2"/>
          <p:cNvSpPr/>
          <p:nvPr/>
        </p:nvSpPr>
        <p:spPr>
          <a:xfrm>
            <a:off x="1523880" y="162720"/>
            <a:ext cx="9143280" cy="1919520"/>
          </a:xfrm>
          <a:prstGeom prst="rect">
            <a:avLst/>
          </a:prstGeom>
          <a:noFill/>
          <a:ln>
            <a:noFill/>
          </a:ln>
        </p:spPr>
        <p:style>
          <a:lnRef idx="0"/>
          <a:fillRef idx="0"/>
          <a:effectRef idx="0"/>
          <a:fontRef idx="minor"/>
        </p:style>
        <p:txBody>
          <a:bodyPr lIns="90000" rIns="90000" tIns="45000" bIns="45000" anchor="b">
            <a:normAutofit fontScale="57000"/>
          </a:bodyPr>
          <a:p>
            <a:pPr algn="ctr">
              <a:lnSpc>
                <a:spcPct val="90000"/>
              </a:lnSpc>
            </a:pPr>
            <a:br/>
            <a:r>
              <a:rPr b="0" lang="en-US" sz="6000" spc="-1" strike="noStrike">
                <a:solidFill>
                  <a:srgbClr val="000000"/>
                </a:solidFill>
                <a:latin typeface="Calibri Light"/>
              </a:rPr>
              <a:t> </a:t>
            </a:r>
            <a:r>
              <a:rPr b="1" lang="en-US" sz="4400" spc="-1" strike="noStrike">
                <a:solidFill>
                  <a:srgbClr val="000000"/>
                </a:solidFill>
                <a:latin typeface="Times New Roman"/>
              </a:rPr>
              <a:t>DUAL MODE HIDDEN SURVEILLANCE DETECTION SYSTEM USING ESP32 AND AD8318 </a:t>
            </a:r>
            <a:endParaRPr b="0" lang="en-US" sz="44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TextShape 1"/>
          <p:cNvSpPr txBox="1"/>
          <p:nvPr/>
        </p:nvSpPr>
        <p:spPr>
          <a:xfrm>
            <a:off x="838080" y="454680"/>
            <a:ext cx="10514880" cy="1145160"/>
          </a:xfrm>
          <a:prstGeom prst="rect">
            <a:avLst/>
          </a:prstGeom>
          <a:noFill/>
          <a:ln>
            <a:noFill/>
          </a:ln>
        </p:spPr>
        <p:txBody>
          <a:bodyPr lIns="0" rIns="0" tIns="0" bIns="0" anchor="ctr">
            <a:spAutoFit/>
          </a:bodyPr>
          <a:p>
            <a:pPr algn="ctr"/>
            <a:r>
              <a:rPr b="0" lang="en-US" sz="4400" spc="-1" strike="noStrike">
                <a:latin typeface="Arial"/>
              </a:rPr>
              <a:t>Contents</a:t>
            </a:r>
            <a:endParaRPr b="0" lang="en-US" sz="4400" spc="-1" strike="noStrike">
              <a:latin typeface="Arial"/>
            </a:endParaRPr>
          </a:p>
        </p:txBody>
      </p:sp>
      <p:sp>
        <p:nvSpPr>
          <p:cNvPr id="79" name="TextShape 2"/>
          <p:cNvSpPr txBox="1"/>
          <p:nvPr/>
        </p:nvSpPr>
        <p:spPr>
          <a:xfrm>
            <a:off x="609480" y="1604520"/>
            <a:ext cx="10972440" cy="3977280"/>
          </a:xfrm>
          <a:prstGeom prst="rect">
            <a:avLst/>
          </a:prstGeom>
          <a:noFill/>
          <a:ln>
            <a:noFill/>
          </a:ln>
        </p:spPr>
        <p:txBody>
          <a:bodyPr lIns="0" rIns="0" tIns="0" bIns="0">
            <a:normAutofit fontScale="84000"/>
          </a:bodyPr>
          <a:p>
            <a:pPr marL="432000" indent="-324000">
              <a:spcBef>
                <a:spcPts val="1417"/>
              </a:spcBef>
              <a:buClr>
                <a:srgbClr val="000000"/>
              </a:buClr>
              <a:buSzPct val="45000"/>
              <a:buFont typeface="Wingdings" charset="2"/>
              <a:buChar char=""/>
            </a:pPr>
            <a:r>
              <a:rPr b="0" lang="en-US" sz="2800" spc="-1" strike="noStrike">
                <a:latin typeface="Arial"/>
              </a:rPr>
              <a:t>Problem Statement</a:t>
            </a:r>
            <a:endParaRPr b="0" lang="en-US" sz="2800" spc="-1" strike="noStrike">
              <a:latin typeface="Arial"/>
            </a:endParaRPr>
          </a:p>
          <a:p>
            <a:pPr marL="432000" indent="-324000">
              <a:spcBef>
                <a:spcPts val="1417"/>
              </a:spcBef>
              <a:buClr>
                <a:srgbClr val="000000"/>
              </a:buClr>
              <a:buSzPct val="45000"/>
              <a:buFont typeface="Wingdings" charset="2"/>
              <a:buChar char=""/>
            </a:pPr>
            <a:r>
              <a:rPr b="0" lang="en-US" sz="2800" spc="-1" strike="noStrike">
                <a:latin typeface="Arial"/>
              </a:rPr>
              <a:t>Abstract</a:t>
            </a:r>
            <a:endParaRPr b="0" lang="en-US" sz="2800" spc="-1" strike="noStrike">
              <a:latin typeface="Arial"/>
            </a:endParaRPr>
          </a:p>
          <a:p>
            <a:pPr marL="432000" indent="-324000">
              <a:spcBef>
                <a:spcPts val="1417"/>
              </a:spcBef>
              <a:buClr>
                <a:srgbClr val="000000"/>
              </a:buClr>
              <a:buSzPct val="45000"/>
              <a:buFont typeface="Wingdings" charset="2"/>
              <a:buChar char=""/>
            </a:pPr>
            <a:r>
              <a:rPr b="0" lang="en-US" sz="2800" spc="-1" strike="noStrike">
                <a:latin typeface="Arial"/>
              </a:rPr>
              <a:t>Existing System</a:t>
            </a:r>
            <a:endParaRPr b="0" lang="en-US" sz="2800" spc="-1" strike="noStrike">
              <a:latin typeface="Arial"/>
            </a:endParaRPr>
          </a:p>
          <a:p>
            <a:pPr marL="432000" indent="-324000">
              <a:spcBef>
                <a:spcPts val="1417"/>
              </a:spcBef>
              <a:buClr>
                <a:srgbClr val="000000"/>
              </a:buClr>
              <a:buSzPct val="45000"/>
              <a:buFont typeface="Wingdings" charset="2"/>
              <a:buChar char=""/>
            </a:pPr>
            <a:r>
              <a:rPr b="0" lang="en-US" sz="2800" spc="-1" strike="noStrike">
                <a:latin typeface="Arial"/>
              </a:rPr>
              <a:t>Proposed System</a:t>
            </a:r>
            <a:endParaRPr b="0" lang="en-US" sz="2800" spc="-1" strike="noStrike">
              <a:latin typeface="Arial"/>
            </a:endParaRPr>
          </a:p>
          <a:p>
            <a:pPr marL="432000" indent="-324000">
              <a:spcBef>
                <a:spcPts val="1417"/>
              </a:spcBef>
              <a:buClr>
                <a:srgbClr val="000000"/>
              </a:buClr>
              <a:buSzPct val="45000"/>
              <a:buFont typeface="Wingdings" charset="2"/>
              <a:buChar char=""/>
            </a:pPr>
            <a:r>
              <a:rPr b="0" lang="en-US" sz="2800" spc="-1" strike="noStrike">
                <a:latin typeface="Arial"/>
              </a:rPr>
              <a:t>Methodology</a:t>
            </a:r>
            <a:endParaRPr b="0" lang="en-US" sz="2800" spc="-1" strike="noStrike">
              <a:latin typeface="Arial"/>
            </a:endParaRPr>
          </a:p>
          <a:p>
            <a:pPr marL="432000" indent="-324000">
              <a:spcBef>
                <a:spcPts val="1417"/>
              </a:spcBef>
              <a:buClr>
                <a:srgbClr val="000000"/>
              </a:buClr>
              <a:buSzPct val="45000"/>
              <a:buFont typeface="Wingdings" charset="2"/>
              <a:buChar char=""/>
            </a:pPr>
            <a:r>
              <a:rPr b="0" lang="en-US" sz="2800" spc="-1" strike="noStrike">
                <a:latin typeface="Arial"/>
              </a:rPr>
              <a:t>Advantages</a:t>
            </a:r>
            <a:endParaRPr b="0" lang="en-US" sz="2800" spc="-1" strike="noStrike">
              <a:latin typeface="Arial"/>
            </a:endParaRPr>
          </a:p>
          <a:p>
            <a:pPr marL="432000" indent="-324000">
              <a:spcBef>
                <a:spcPts val="1417"/>
              </a:spcBef>
              <a:buClr>
                <a:srgbClr val="000000"/>
              </a:buClr>
              <a:buSzPct val="45000"/>
              <a:buFont typeface="Wingdings" charset="2"/>
              <a:buChar char=""/>
            </a:pPr>
            <a:r>
              <a:rPr b="0" lang="en-US" sz="2800" spc="-1" strike="noStrike">
                <a:latin typeface="Arial"/>
              </a:rPr>
              <a:t>Applications</a:t>
            </a:r>
            <a:endParaRPr b="0" lang="en-US" sz="2800" spc="-1" strike="noStrike">
              <a:latin typeface="Arial"/>
            </a:endParaRPr>
          </a:p>
          <a:p>
            <a:pPr marL="432000" indent="-324000">
              <a:spcBef>
                <a:spcPts val="1417"/>
              </a:spcBef>
              <a:buClr>
                <a:srgbClr val="000000"/>
              </a:buClr>
              <a:buSzPct val="45000"/>
              <a:buFont typeface="Wingdings" charset="2"/>
              <a:buChar char=""/>
            </a:pPr>
            <a:r>
              <a:rPr b="0" lang="en-US" sz="2800" spc="-1" strike="noStrike">
                <a:latin typeface="Arial"/>
              </a:rPr>
              <a:t>Conclusion</a:t>
            </a: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CustomShape 1"/>
          <p:cNvSpPr/>
          <p:nvPr/>
        </p:nvSpPr>
        <p:spPr>
          <a:xfrm>
            <a:off x="838080" y="365040"/>
            <a:ext cx="10514880" cy="1324800"/>
          </a:xfrm>
          <a:prstGeom prst="rect">
            <a:avLst/>
          </a:prstGeom>
          <a:noFill/>
          <a:ln>
            <a:noFill/>
          </a:ln>
        </p:spPr>
        <p:style>
          <a:lnRef idx="0"/>
          <a:fillRef idx="0"/>
          <a:effectRef idx="0"/>
          <a:fontRef idx="minor"/>
        </p:style>
        <p:txBody>
          <a:bodyPr lIns="90000" rIns="90000" tIns="45000" bIns="45000" anchor="ctr">
            <a:noAutofit/>
          </a:bodyPr>
          <a:p>
            <a:pPr>
              <a:lnSpc>
                <a:spcPct val="90000"/>
              </a:lnSpc>
            </a:pPr>
            <a:r>
              <a:rPr b="0" lang="en-US" sz="4400" spc="-1" strike="noStrike">
                <a:solidFill>
                  <a:srgbClr val="000000"/>
                </a:solidFill>
                <a:latin typeface="Times New Roman"/>
              </a:rPr>
              <a:t>Problem Statement</a:t>
            </a:r>
            <a:endParaRPr b="0" lang="en-US" sz="4400" spc="-1" strike="noStrike">
              <a:latin typeface="Arial"/>
            </a:endParaRPr>
          </a:p>
        </p:txBody>
      </p:sp>
      <p:sp>
        <p:nvSpPr>
          <p:cNvPr id="81" name="CustomShape 2"/>
          <p:cNvSpPr/>
          <p:nvPr/>
        </p:nvSpPr>
        <p:spPr>
          <a:xfrm>
            <a:off x="838080" y="1825560"/>
            <a:ext cx="10514880" cy="4350600"/>
          </a:xfrm>
          <a:prstGeom prst="rect">
            <a:avLst/>
          </a:prstGeom>
          <a:noFill/>
          <a:ln>
            <a:noFill/>
          </a:ln>
        </p:spPr>
        <p:style>
          <a:lnRef idx="0"/>
          <a:fillRef idx="0"/>
          <a:effectRef idx="0"/>
          <a:fontRef idx="minor"/>
        </p:style>
        <p:txBody>
          <a:bodyPr lIns="90000" rIns="90000" tIns="45000" bIns="45000">
            <a:normAutofit fontScale="56000"/>
          </a:bodyPr>
          <a:p>
            <a:pPr>
              <a:lnSpc>
                <a:spcPct val="90000"/>
              </a:lnSpc>
              <a:spcBef>
                <a:spcPts val="1001"/>
              </a:spcBef>
            </a:pPr>
            <a:r>
              <a:rPr b="0" lang="en-US" sz="2200" spc="-1" strike="noStrike">
                <a:solidFill>
                  <a:srgbClr val="000000"/>
                </a:solidFill>
                <a:latin typeface="Times New Roman"/>
              </a:rPr>
              <a:t>The growing use of hidden surveillance devices such as spy cameras and wireless bugs has become a major threat to personal privacy in places like hotels, rental rooms, and offices. These devices are often concealed in everyday objects and can transmit data using technologies like Wi-Fi, Bluetooth, GSM, or infrared (IR).</a:t>
            </a:r>
            <a:endParaRPr b="0" lang="en-US" sz="2200" spc="-1" strike="noStrike">
              <a:latin typeface="Arial"/>
            </a:endParaRPr>
          </a:p>
          <a:p>
            <a:pPr>
              <a:lnSpc>
                <a:spcPct val="90000"/>
              </a:lnSpc>
              <a:spcBef>
                <a:spcPts val="1001"/>
              </a:spcBef>
            </a:pPr>
            <a:endParaRPr b="0" lang="en-US" sz="2200" spc="-1" strike="noStrike">
              <a:latin typeface="Arial"/>
            </a:endParaRPr>
          </a:p>
          <a:p>
            <a:pPr>
              <a:lnSpc>
                <a:spcPct val="90000"/>
              </a:lnSpc>
              <a:spcBef>
                <a:spcPts val="1001"/>
              </a:spcBef>
            </a:pPr>
            <a:r>
              <a:rPr b="0" lang="en-US" sz="2200" spc="-1" strike="noStrike">
                <a:solidFill>
                  <a:srgbClr val="000000"/>
                </a:solidFill>
                <a:latin typeface="Times New Roman"/>
              </a:rPr>
              <a:t>Most existing detection systems rely on a single method, such as RF signal detection or IR detection. This creates limitations:</a:t>
            </a:r>
            <a:endParaRPr b="0" lang="en-US" sz="2200" spc="-1" strike="noStrike">
              <a:latin typeface="Arial"/>
            </a:endParaRPr>
          </a:p>
          <a:p>
            <a:pPr marL="432000" indent="-323640">
              <a:lnSpc>
                <a:spcPct val="90000"/>
              </a:lnSpc>
              <a:spcBef>
                <a:spcPts val="1001"/>
              </a:spcBef>
              <a:buClr>
                <a:srgbClr val="000000"/>
              </a:buClr>
              <a:buSzPct val="45000"/>
              <a:buFont typeface="Wingdings" charset="2"/>
              <a:buChar char=""/>
            </a:pPr>
            <a:r>
              <a:rPr b="0" lang="en-US" sz="2200" spc="-1" strike="noStrike">
                <a:solidFill>
                  <a:srgbClr val="000000"/>
                </a:solidFill>
                <a:latin typeface="Times New Roman"/>
              </a:rPr>
              <a:t>RF-based systems cannot detect non-transmitting or wired cameras</a:t>
            </a:r>
            <a:endParaRPr b="0" lang="en-US" sz="2200" spc="-1" strike="noStrike">
              <a:latin typeface="Arial"/>
            </a:endParaRPr>
          </a:p>
          <a:p>
            <a:pPr marL="432000" indent="-323640">
              <a:lnSpc>
                <a:spcPct val="90000"/>
              </a:lnSpc>
              <a:spcBef>
                <a:spcPts val="1001"/>
              </a:spcBef>
              <a:buClr>
                <a:srgbClr val="000000"/>
              </a:buClr>
              <a:buSzPct val="45000"/>
              <a:buFont typeface="Wingdings" charset="2"/>
              <a:buChar char=""/>
            </a:pPr>
            <a:r>
              <a:rPr b="0" lang="en-US" sz="2200" spc="-1" strike="noStrike">
                <a:solidFill>
                  <a:srgbClr val="000000"/>
                </a:solidFill>
                <a:latin typeface="Times New Roman"/>
              </a:rPr>
              <a:t>IR-based systems fail to detect cameras that do not use infrared illumination</a:t>
            </a:r>
            <a:endParaRPr b="0" lang="en-US" sz="2200" spc="-1" strike="noStrike">
              <a:latin typeface="Arial"/>
            </a:endParaRPr>
          </a:p>
          <a:p>
            <a:pPr marL="432000" indent="-323640">
              <a:lnSpc>
                <a:spcPct val="90000"/>
              </a:lnSpc>
              <a:spcBef>
                <a:spcPts val="1001"/>
              </a:spcBef>
              <a:buClr>
                <a:srgbClr val="000000"/>
              </a:buClr>
              <a:buSzPct val="45000"/>
              <a:buFont typeface="Wingdings" charset="2"/>
              <a:buChar char=""/>
            </a:pPr>
            <a:r>
              <a:rPr b="0" lang="en-US" sz="2200" spc="-1" strike="noStrike">
                <a:solidFill>
                  <a:srgbClr val="000000"/>
                </a:solidFill>
                <a:latin typeface="Times New Roman"/>
              </a:rPr>
              <a:t>Many solutions are costly, complex, and prone to false alarms</a:t>
            </a:r>
            <a:endParaRPr b="0" lang="en-US" sz="2200" spc="-1" strike="noStrike">
              <a:latin typeface="Arial"/>
            </a:endParaRPr>
          </a:p>
          <a:p>
            <a:pPr>
              <a:lnSpc>
                <a:spcPct val="90000"/>
              </a:lnSpc>
              <a:spcBef>
                <a:spcPts val="1001"/>
              </a:spcBef>
            </a:pPr>
            <a:endParaRPr b="0" lang="en-US" sz="2200" spc="-1" strike="noStrike">
              <a:latin typeface="Arial"/>
            </a:endParaRPr>
          </a:p>
          <a:p>
            <a:pPr>
              <a:lnSpc>
                <a:spcPct val="90000"/>
              </a:lnSpc>
              <a:spcBef>
                <a:spcPts val="1001"/>
              </a:spcBef>
            </a:pPr>
            <a:r>
              <a:rPr b="0" lang="en-US" sz="2200" spc="-1" strike="noStrike">
                <a:solidFill>
                  <a:srgbClr val="000000"/>
                </a:solidFill>
                <a:latin typeface="Times New Roman"/>
              </a:rPr>
              <a:t>Because of these challenges, there is a need for a compact, affordable, and reliable solution that can:</a:t>
            </a:r>
            <a:endParaRPr b="0" lang="en-US" sz="2200" spc="-1" strike="noStrike">
              <a:latin typeface="Arial"/>
            </a:endParaRPr>
          </a:p>
          <a:p>
            <a:pPr marL="432000" indent="-323640">
              <a:lnSpc>
                <a:spcPct val="90000"/>
              </a:lnSpc>
              <a:spcBef>
                <a:spcPts val="1001"/>
              </a:spcBef>
              <a:buClr>
                <a:srgbClr val="000000"/>
              </a:buClr>
              <a:buSzPct val="45000"/>
              <a:buFont typeface="Wingdings" charset="2"/>
              <a:buChar char=""/>
            </a:pPr>
            <a:r>
              <a:rPr b="0" lang="en-US" sz="2200" spc="-1" strike="noStrike">
                <a:solidFill>
                  <a:srgbClr val="000000"/>
                </a:solidFill>
                <a:latin typeface="Times New Roman"/>
              </a:rPr>
              <a:t>Detect both RF signals (1 GHz–2.4 GHz) and IR emissions</a:t>
            </a:r>
            <a:endParaRPr b="0" lang="en-US" sz="2200" spc="-1" strike="noStrike">
              <a:latin typeface="Arial"/>
            </a:endParaRPr>
          </a:p>
          <a:p>
            <a:pPr marL="432000" indent="-323640">
              <a:lnSpc>
                <a:spcPct val="90000"/>
              </a:lnSpc>
              <a:spcBef>
                <a:spcPts val="1001"/>
              </a:spcBef>
              <a:buClr>
                <a:srgbClr val="000000"/>
              </a:buClr>
              <a:buSzPct val="45000"/>
              <a:buFont typeface="Wingdings" charset="2"/>
              <a:buChar char=""/>
            </a:pPr>
            <a:r>
              <a:rPr b="0" lang="en-US" sz="2200" spc="-1" strike="noStrike">
                <a:solidFill>
                  <a:srgbClr val="000000"/>
                </a:solidFill>
                <a:latin typeface="Times New Roman"/>
              </a:rPr>
              <a:t>Provide real-time alerts</a:t>
            </a:r>
            <a:endParaRPr b="0" lang="en-US" sz="2200" spc="-1" strike="noStrike">
              <a:latin typeface="Arial"/>
            </a:endParaRPr>
          </a:p>
          <a:p>
            <a:pPr marL="432000" indent="-323640">
              <a:lnSpc>
                <a:spcPct val="90000"/>
              </a:lnSpc>
              <a:spcBef>
                <a:spcPts val="1001"/>
              </a:spcBef>
              <a:buClr>
                <a:srgbClr val="000000"/>
              </a:buClr>
              <a:buSzPct val="45000"/>
              <a:buFont typeface="Wingdings" charset="2"/>
              <a:buChar char=""/>
            </a:pPr>
            <a:r>
              <a:rPr b="0" lang="en-US" sz="2200" spc="-1" strike="noStrike">
                <a:solidFill>
                  <a:srgbClr val="000000"/>
                </a:solidFill>
                <a:latin typeface="Times New Roman"/>
              </a:rPr>
              <a:t>Reduce false detections</a:t>
            </a:r>
            <a:endParaRPr b="0" lang="en-US" sz="2200" spc="-1" strike="noStrike">
              <a:latin typeface="Arial"/>
            </a:endParaRPr>
          </a:p>
          <a:p>
            <a:pPr marL="432000" indent="-323640">
              <a:lnSpc>
                <a:spcPct val="90000"/>
              </a:lnSpc>
              <a:spcBef>
                <a:spcPts val="1001"/>
              </a:spcBef>
              <a:buClr>
                <a:srgbClr val="000000"/>
              </a:buClr>
              <a:buSzPct val="45000"/>
              <a:buFont typeface="Wingdings" charset="2"/>
              <a:buChar char=""/>
            </a:pPr>
            <a:r>
              <a:rPr b="0" lang="en-US" sz="2200" spc="-1" strike="noStrike">
                <a:solidFill>
                  <a:srgbClr val="000000"/>
                </a:solidFill>
                <a:latin typeface="Times New Roman"/>
              </a:rPr>
              <a:t>Be easy to use for non-technical users</a:t>
            </a:r>
            <a:endParaRPr b="0" lang="en-US" sz="2200" spc="-1" strike="noStrike">
              <a:latin typeface="Arial"/>
            </a:endParaRPr>
          </a:p>
          <a:p>
            <a:pPr>
              <a:lnSpc>
                <a:spcPct val="90000"/>
              </a:lnSpc>
              <a:spcBef>
                <a:spcPts val="1001"/>
              </a:spcBef>
            </a:pP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CustomShape 1"/>
          <p:cNvSpPr/>
          <p:nvPr/>
        </p:nvSpPr>
        <p:spPr>
          <a:xfrm>
            <a:off x="838080" y="365040"/>
            <a:ext cx="10514880" cy="1324800"/>
          </a:xfrm>
          <a:prstGeom prst="rect">
            <a:avLst/>
          </a:prstGeom>
          <a:noFill/>
          <a:ln>
            <a:noFill/>
          </a:ln>
        </p:spPr>
        <p:style>
          <a:lnRef idx="0"/>
          <a:fillRef idx="0"/>
          <a:effectRef idx="0"/>
          <a:fontRef idx="minor"/>
        </p:style>
        <p:txBody>
          <a:bodyPr lIns="90000" rIns="90000" tIns="45000" bIns="45000" anchor="ctr">
            <a:noAutofit/>
          </a:bodyPr>
          <a:p>
            <a:pPr>
              <a:lnSpc>
                <a:spcPct val="90000"/>
              </a:lnSpc>
            </a:pPr>
            <a:r>
              <a:rPr b="0" lang="en-US" sz="3200" spc="-1" strike="noStrike">
                <a:solidFill>
                  <a:srgbClr val="000000"/>
                </a:solidFill>
                <a:latin typeface="Times New Roman"/>
              </a:rPr>
              <a:t>ABSTRACT</a:t>
            </a:r>
            <a:endParaRPr b="0" lang="en-US" sz="3200" spc="-1" strike="noStrike">
              <a:latin typeface="Arial"/>
            </a:endParaRPr>
          </a:p>
        </p:txBody>
      </p:sp>
      <p:sp>
        <p:nvSpPr>
          <p:cNvPr id="83" name="CustomShape 2"/>
          <p:cNvSpPr/>
          <p:nvPr/>
        </p:nvSpPr>
        <p:spPr>
          <a:xfrm>
            <a:off x="838080" y="1825560"/>
            <a:ext cx="10514880" cy="4350600"/>
          </a:xfrm>
          <a:prstGeom prst="rect">
            <a:avLst/>
          </a:prstGeom>
          <a:noFill/>
          <a:ln>
            <a:noFill/>
          </a:ln>
        </p:spPr>
        <p:style>
          <a:lnRef idx="0"/>
          <a:fillRef idx="0"/>
          <a:effectRef idx="0"/>
          <a:fontRef idx="minor"/>
        </p:style>
        <p:txBody>
          <a:bodyPr lIns="90000" rIns="90000" tIns="45000" bIns="45000">
            <a:normAutofit/>
          </a:bodyPr>
          <a:p>
            <a:pPr marL="228600" indent="-227880">
              <a:lnSpc>
                <a:spcPct val="90000"/>
              </a:lnSpc>
              <a:spcBef>
                <a:spcPts val="1001"/>
              </a:spcBef>
              <a:buClr>
                <a:srgbClr val="000000"/>
              </a:buClr>
              <a:buFont typeface="Arial"/>
              <a:buChar char="•"/>
            </a:pPr>
            <a:r>
              <a:rPr b="1" lang="en-US" sz="2000" spc="-1" strike="noStrike">
                <a:solidFill>
                  <a:srgbClr val="000000"/>
                </a:solidFill>
                <a:latin typeface="Times New Roman"/>
              </a:rPr>
              <a:t>Dual-Mode Hidden Surveillance Detection System</a:t>
            </a:r>
            <a:endParaRPr b="0" lang="en-US" sz="2000" spc="-1" strike="noStrike">
              <a:latin typeface="Arial"/>
            </a:endParaRPr>
          </a:p>
          <a:p>
            <a:pPr marL="228600" indent="-227880">
              <a:lnSpc>
                <a:spcPct val="90000"/>
              </a:lnSpc>
              <a:spcBef>
                <a:spcPts val="1001"/>
              </a:spcBef>
              <a:buClr>
                <a:srgbClr val="000000"/>
              </a:buClr>
              <a:buFont typeface="Arial"/>
              <a:buChar char="•"/>
            </a:pPr>
            <a:r>
              <a:rPr b="0" lang="en-US" sz="2000" spc="-1" strike="noStrike">
                <a:solidFill>
                  <a:srgbClr val="000000"/>
                </a:solidFill>
                <a:latin typeface="Times New Roman"/>
              </a:rPr>
              <a:t>This project presents a compact embedded system to detect hidden surveillance cameras using two complementary sensing methods — infrared (IR) and radio-frequency (RF).</a:t>
            </a:r>
            <a:endParaRPr b="0" lang="en-US" sz="2000" spc="-1" strike="noStrike">
              <a:latin typeface="Arial"/>
            </a:endParaRPr>
          </a:p>
          <a:p>
            <a:pPr marL="228600" indent="-227880">
              <a:lnSpc>
                <a:spcPct val="90000"/>
              </a:lnSpc>
              <a:spcBef>
                <a:spcPts val="1001"/>
              </a:spcBef>
              <a:buClr>
                <a:srgbClr val="000000"/>
              </a:buClr>
              <a:buFont typeface="Arial"/>
              <a:buChar char="•"/>
            </a:pPr>
            <a:r>
              <a:rPr b="0" lang="en-US" sz="2000" spc="-1" strike="noStrike">
                <a:solidFill>
                  <a:srgbClr val="000000"/>
                </a:solidFill>
                <a:latin typeface="Times New Roman"/>
              </a:rPr>
              <a:t>An ESP32 microcontroller interfaces with an AD8318 RF detector (1–2.4 GHz) to identify wireless cameras (GSM, Wi-Fi, Bluetooth) and a 38 kHz IR receiver to detect night-vision IR-illuminated cameras. Detected signals trigger visual alerts on an OLED and 16×2 LCD, plus an audible buzzer alarm.</a:t>
            </a:r>
            <a:endParaRPr b="0" lang="en-US" sz="2000" spc="-1" strike="noStrike">
              <a:latin typeface="Arial"/>
            </a:endParaRPr>
          </a:p>
          <a:p>
            <a:pPr marL="228600" indent="-227880">
              <a:lnSpc>
                <a:spcPct val="90000"/>
              </a:lnSpc>
              <a:spcBef>
                <a:spcPts val="1001"/>
              </a:spcBef>
              <a:buClr>
                <a:srgbClr val="000000"/>
              </a:buClr>
              <a:buFont typeface="Arial"/>
              <a:buChar char="•"/>
            </a:pPr>
            <a:r>
              <a:rPr b="0" lang="en-US" sz="2000" spc="-1" strike="noStrike">
                <a:solidFill>
                  <a:srgbClr val="000000"/>
                </a:solidFill>
                <a:latin typeface="Times New Roman"/>
              </a:rPr>
              <a:t>RF hysteresis and IR debounce filtering minimise false triggers, ensuring reliable detection. The dual-mode approach provides broader coverage than any single-mode system.</a:t>
            </a:r>
            <a:endParaRPr b="0" lang="en-US" sz="2000" spc="-1" strike="noStrike">
              <a:latin typeface="Arial"/>
            </a:endParaRPr>
          </a:p>
          <a:p>
            <a:pPr>
              <a:lnSpc>
                <a:spcPct val="90000"/>
              </a:lnSpc>
              <a:spcBef>
                <a:spcPts val="1001"/>
              </a:spcBef>
            </a:pP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CustomShape 1"/>
          <p:cNvSpPr/>
          <p:nvPr/>
        </p:nvSpPr>
        <p:spPr>
          <a:xfrm>
            <a:off x="838080" y="365040"/>
            <a:ext cx="10514880" cy="1324800"/>
          </a:xfrm>
          <a:prstGeom prst="rect">
            <a:avLst/>
          </a:prstGeom>
          <a:noFill/>
          <a:ln>
            <a:noFill/>
          </a:ln>
        </p:spPr>
        <p:style>
          <a:lnRef idx="0"/>
          <a:fillRef idx="0"/>
          <a:effectRef idx="0"/>
          <a:fontRef idx="minor"/>
        </p:style>
        <p:txBody>
          <a:bodyPr lIns="90000" rIns="90000" tIns="45000" bIns="45000" anchor="ctr">
            <a:normAutofit/>
          </a:bodyPr>
          <a:p>
            <a:pPr>
              <a:lnSpc>
                <a:spcPct val="90000"/>
              </a:lnSpc>
            </a:pPr>
            <a:r>
              <a:rPr b="0" lang="en-US" sz="3200" spc="-1" strike="noStrike">
                <a:solidFill>
                  <a:srgbClr val="000000"/>
                </a:solidFill>
                <a:latin typeface="Times New Roman"/>
              </a:rPr>
              <a:t>EXESTING</a:t>
            </a:r>
            <a:r>
              <a:rPr b="0" lang="en-US" sz="4000" spc="-1" strike="noStrike">
                <a:solidFill>
                  <a:srgbClr val="000000"/>
                </a:solidFill>
                <a:latin typeface="Times New Roman"/>
              </a:rPr>
              <a:t> </a:t>
            </a:r>
            <a:r>
              <a:rPr b="0" lang="en-US" sz="3200" spc="-1" strike="noStrike">
                <a:solidFill>
                  <a:srgbClr val="000000"/>
                </a:solidFill>
                <a:latin typeface="Times New Roman"/>
              </a:rPr>
              <a:t>SYSTEM</a:t>
            </a:r>
            <a:endParaRPr b="0" lang="en-US" sz="3200" spc="-1" strike="noStrike">
              <a:latin typeface="Arial"/>
            </a:endParaRPr>
          </a:p>
        </p:txBody>
      </p:sp>
      <p:sp>
        <p:nvSpPr>
          <p:cNvPr id="85" name="CustomShape 2"/>
          <p:cNvSpPr/>
          <p:nvPr/>
        </p:nvSpPr>
        <p:spPr>
          <a:xfrm>
            <a:off x="838080" y="1825560"/>
            <a:ext cx="10514880" cy="4960440"/>
          </a:xfrm>
          <a:prstGeom prst="rect">
            <a:avLst/>
          </a:prstGeom>
          <a:noFill/>
          <a:ln>
            <a:noFill/>
          </a:ln>
        </p:spPr>
        <p:style>
          <a:lnRef idx="0"/>
          <a:fillRef idx="0"/>
          <a:effectRef idx="0"/>
          <a:fontRef idx="minor"/>
        </p:style>
        <p:txBody>
          <a:bodyPr lIns="90000" rIns="90000" tIns="45000" bIns="45000">
            <a:noAutofit/>
          </a:bodyPr>
          <a:p>
            <a:pPr>
              <a:lnSpc>
                <a:spcPct val="90000"/>
              </a:lnSpc>
              <a:spcBef>
                <a:spcPts val="1001"/>
              </a:spcBef>
            </a:pPr>
            <a:r>
              <a:rPr b="0" lang="en-US" sz="2000" spc="-1" strike="noStrike">
                <a:solidFill>
                  <a:srgbClr val="000000"/>
                </a:solidFill>
                <a:latin typeface="Times New Roman"/>
              </a:rPr>
              <a:t>Hidden surveillance detection systems available today are primarily based on single detection techniques, such as Radio Frequency (RF), Infrared (IR), or optical methods.</a:t>
            </a:r>
            <a:endParaRPr b="0" lang="en-US" sz="2000" spc="-1" strike="noStrike">
              <a:latin typeface="Arial"/>
            </a:endParaRPr>
          </a:p>
          <a:p>
            <a:pPr marL="228600" indent="-227880">
              <a:lnSpc>
                <a:spcPct val="90000"/>
              </a:lnSpc>
              <a:spcBef>
                <a:spcPts val="1001"/>
              </a:spcBef>
              <a:buClr>
                <a:srgbClr val="000000"/>
              </a:buClr>
              <a:buFont typeface="Arial"/>
              <a:buChar char="•"/>
            </a:pPr>
            <a:r>
              <a:rPr b="1" lang="en-US" sz="1800" spc="-1" strike="noStrike">
                <a:solidFill>
                  <a:srgbClr val="000000"/>
                </a:solidFill>
                <a:latin typeface="Times New Roman"/>
              </a:rPr>
              <a:t>1. RF-Based Detection Systems</a:t>
            </a:r>
            <a:endParaRPr b="0" lang="en-US" sz="1800" spc="-1" strike="noStrike">
              <a:latin typeface="Arial"/>
            </a:endParaRPr>
          </a:p>
          <a:p>
            <a:pPr marL="228600" indent="-227880">
              <a:lnSpc>
                <a:spcPct val="90000"/>
              </a:lnSpc>
              <a:spcBef>
                <a:spcPts val="1001"/>
              </a:spcBef>
              <a:buClr>
                <a:srgbClr val="000000"/>
              </a:buClr>
              <a:buFont typeface="Arial"/>
              <a:buChar char="•"/>
            </a:pPr>
            <a:r>
              <a:rPr b="0" lang="en-US" sz="1800" spc="-1" strike="noStrike">
                <a:solidFill>
                  <a:srgbClr val="000000"/>
                </a:solidFill>
                <a:latin typeface="Times New Roman"/>
              </a:rPr>
              <a:t>Detect wireless signals emitted by devices </a:t>
            </a:r>
            <a:endParaRPr b="0" lang="en-US" sz="1800" spc="-1" strike="noStrike">
              <a:latin typeface="Arial"/>
            </a:endParaRPr>
          </a:p>
          <a:p>
            <a:pPr marL="228600" indent="-227880">
              <a:lnSpc>
                <a:spcPct val="90000"/>
              </a:lnSpc>
              <a:spcBef>
                <a:spcPts val="1001"/>
              </a:spcBef>
              <a:buClr>
                <a:srgbClr val="000000"/>
              </a:buClr>
              <a:buFont typeface="Arial"/>
              <a:buChar char="•"/>
            </a:pPr>
            <a:r>
              <a:rPr b="0" lang="en-US" sz="1800" spc="-1" strike="noStrike">
                <a:solidFill>
                  <a:srgbClr val="000000"/>
                </a:solidFill>
                <a:latin typeface="Times New Roman"/>
              </a:rPr>
              <a:t>Identify cameras using Wi-Fi, Bluetooth, or GSM </a:t>
            </a:r>
            <a:endParaRPr b="0" lang="en-US" sz="1800" spc="-1" strike="noStrike">
              <a:latin typeface="Arial"/>
            </a:endParaRPr>
          </a:p>
          <a:p>
            <a:pPr marL="228600" indent="-227880">
              <a:lnSpc>
                <a:spcPct val="90000"/>
              </a:lnSpc>
              <a:spcBef>
                <a:spcPts val="1001"/>
              </a:spcBef>
              <a:buClr>
                <a:srgbClr val="000000"/>
              </a:buClr>
              <a:buFont typeface="Arial"/>
              <a:buChar char="•"/>
            </a:pPr>
            <a:r>
              <a:rPr b="0" lang="en-US" sz="1800" spc="-1" strike="noStrike">
                <a:solidFill>
                  <a:srgbClr val="000000"/>
                </a:solidFill>
                <a:latin typeface="Times New Roman"/>
              </a:rPr>
              <a:t>Do not require line-of-sight </a:t>
            </a:r>
            <a:endParaRPr b="0" lang="en-US" sz="1800" spc="-1" strike="noStrike">
              <a:latin typeface="Arial"/>
            </a:endParaRPr>
          </a:p>
          <a:p>
            <a:pPr>
              <a:lnSpc>
                <a:spcPct val="90000"/>
              </a:lnSpc>
              <a:spcBef>
                <a:spcPts val="1001"/>
              </a:spcBef>
            </a:pPr>
            <a:r>
              <a:rPr b="1" lang="en-US" sz="1800" spc="-1" strike="noStrike">
                <a:solidFill>
                  <a:srgbClr val="000000"/>
                </a:solidFill>
                <a:latin typeface="Times New Roman"/>
              </a:rPr>
              <a:t>2. Optical Detection Systems</a:t>
            </a:r>
            <a:endParaRPr b="0" lang="en-US" sz="1800" spc="-1" strike="noStrike">
              <a:latin typeface="Arial"/>
            </a:endParaRPr>
          </a:p>
          <a:p>
            <a:pPr marL="228600" indent="-227880">
              <a:lnSpc>
                <a:spcPct val="90000"/>
              </a:lnSpc>
              <a:spcBef>
                <a:spcPts val="1001"/>
              </a:spcBef>
              <a:buClr>
                <a:srgbClr val="000000"/>
              </a:buClr>
              <a:buFont typeface="Arial"/>
              <a:buChar char="•"/>
            </a:pPr>
            <a:r>
              <a:rPr b="0" lang="en-US" sz="1800" spc="-1" strike="noStrike">
                <a:solidFill>
                  <a:srgbClr val="000000"/>
                </a:solidFill>
                <a:latin typeface="Times New Roman"/>
              </a:rPr>
              <a:t>Use light reflection to identify camera lenses </a:t>
            </a:r>
            <a:endParaRPr b="0" lang="en-US" sz="1800" spc="-1" strike="noStrike">
              <a:latin typeface="Arial"/>
            </a:endParaRPr>
          </a:p>
          <a:p>
            <a:pPr marL="228600" indent="-227880">
              <a:lnSpc>
                <a:spcPct val="90000"/>
              </a:lnSpc>
              <a:spcBef>
                <a:spcPts val="1001"/>
              </a:spcBef>
              <a:buClr>
                <a:srgbClr val="000000"/>
              </a:buClr>
              <a:buFont typeface="Arial"/>
              <a:buChar char="•"/>
            </a:pPr>
            <a:r>
              <a:rPr b="0" lang="en-US" sz="1800" spc="-1" strike="noStrike">
                <a:solidFill>
                  <a:srgbClr val="000000"/>
                </a:solidFill>
                <a:latin typeface="Times New Roman"/>
              </a:rPr>
              <a:t>Require manual scanning of the environment </a:t>
            </a:r>
            <a:endParaRPr b="0" lang="en-US" sz="1800" spc="-1" strike="noStrike">
              <a:latin typeface="Arial"/>
            </a:endParaRPr>
          </a:p>
          <a:p>
            <a:pPr>
              <a:lnSpc>
                <a:spcPct val="90000"/>
              </a:lnSpc>
              <a:spcBef>
                <a:spcPts val="1001"/>
              </a:spcBef>
            </a:pPr>
            <a:r>
              <a:rPr b="1" lang="en-US" sz="1800" spc="-1" strike="noStrike">
                <a:solidFill>
                  <a:srgbClr val="000000"/>
                </a:solidFill>
                <a:latin typeface="Times New Roman"/>
              </a:rPr>
              <a:t>3. IR-Based Detection Systems</a:t>
            </a:r>
            <a:endParaRPr b="0" lang="en-US" sz="1800" spc="-1" strike="noStrike">
              <a:latin typeface="Arial"/>
            </a:endParaRPr>
          </a:p>
          <a:p>
            <a:pPr marL="228600" indent="-227880">
              <a:lnSpc>
                <a:spcPct val="90000"/>
              </a:lnSpc>
              <a:spcBef>
                <a:spcPts val="1001"/>
              </a:spcBef>
              <a:buClr>
                <a:srgbClr val="000000"/>
              </a:buClr>
              <a:buFont typeface="Arial"/>
              <a:buChar char="•"/>
            </a:pPr>
            <a:r>
              <a:rPr b="0" lang="en-US" sz="1800" spc="-1" strike="noStrike">
                <a:solidFill>
                  <a:srgbClr val="000000"/>
                </a:solidFill>
                <a:latin typeface="Times New Roman"/>
              </a:rPr>
              <a:t>Detect infrared radiation from night-vision cameras </a:t>
            </a:r>
            <a:endParaRPr b="0" lang="en-US" sz="1800" spc="-1" strike="noStrike">
              <a:latin typeface="Arial"/>
            </a:endParaRPr>
          </a:p>
          <a:p>
            <a:pPr marL="228600" indent="-227880">
              <a:lnSpc>
                <a:spcPct val="90000"/>
              </a:lnSpc>
              <a:spcBef>
                <a:spcPts val="1001"/>
              </a:spcBef>
              <a:buClr>
                <a:srgbClr val="000000"/>
              </a:buClr>
              <a:buFont typeface="Arial"/>
              <a:buChar char="•"/>
            </a:pPr>
            <a:r>
              <a:rPr b="0" lang="en-US" sz="1800" spc="-1" strike="noStrike">
                <a:solidFill>
                  <a:srgbClr val="000000"/>
                </a:solidFill>
                <a:latin typeface="Times New Roman"/>
              </a:rPr>
              <a:t>Effective only for IR-enabled cameras </a:t>
            </a:r>
            <a:endParaRPr b="0" lang="en-US" sz="1800" spc="-1" strike="noStrike">
              <a:latin typeface="Arial"/>
            </a:endParaRPr>
          </a:p>
          <a:p>
            <a:pPr marL="228600" indent="-227880">
              <a:lnSpc>
                <a:spcPct val="90000"/>
              </a:lnSpc>
              <a:spcBef>
                <a:spcPts val="1001"/>
              </a:spcBef>
              <a:buClr>
                <a:srgbClr val="000000"/>
              </a:buClr>
              <a:buFont typeface="Arial"/>
              <a:buChar char="•"/>
            </a:pPr>
            <a:r>
              <a:rPr b="0" lang="en-US" sz="1800" spc="-1" strike="noStrike">
                <a:solidFill>
                  <a:srgbClr val="000000"/>
                </a:solidFill>
                <a:latin typeface="Times New Roman"/>
              </a:rPr>
              <a:t>Works mainly in low-light conditions</a:t>
            </a:r>
            <a:endParaRPr b="0" lang="en-US" sz="1800" spc="-1" strike="noStrike">
              <a:latin typeface="Arial"/>
            </a:endParaRPr>
          </a:p>
          <a:p>
            <a:pPr>
              <a:lnSpc>
                <a:spcPct val="90000"/>
              </a:lnSpc>
              <a:spcBef>
                <a:spcPts val="1001"/>
              </a:spcBef>
            </a:pP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CustomShape 1"/>
          <p:cNvSpPr/>
          <p:nvPr/>
        </p:nvSpPr>
        <p:spPr>
          <a:xfrm>
            <a:off x="838080" y="365040"/>
            <a:ext cx="10514880" cy="1324800"/>
          </a:xfrm>
          <a:prstGeom prst="rect">
            <a:avLst/>
          </a:prstGeom>
          <a:noFill/>
          <a:ln>
            <a:noFill/>
          </a:ln>
        </p:spPr>
        <p:style>
          <a:lnRef idx="0"/>
          <a:fillRef idx="0"/>
          <a:effectRef idx="0"/>
          <a:fontRef idx="minor"/>
        </p:style>
        <p:txBody>
          <a:bodyPr lIns="90000" rIns="90000" tIns="45000" bIns="45000" anchor="ctr">
            <a:normAutofit/>
          </a:bodyPr>
          <a:p>
            <a:pPr>
              <a:lnSpc>
                <a:spcPct val="90000"/>
              </a:lnSpc>
            </a:pPr>
            <a:r>
              <a:rPr b="0" lang="en-US" sz="3600" spc="-1" strike="noStrike">
                <a:solidFill>
                  <a:srgbClr val="000000"/>
                </a:solidFill>
                <a:latin typeface="Times New Roman"/>
              </a:rPr>
              <a:t>Proposed</a:t>
            </a:r>
            <a:r>
              <a:rPr b="0" lang="en-US" sz="4000" spc="-1" strike="noStrike">
                <a:solidFill>
                  <a:srgbClr val="000000"/>
                </a:solidFill>
                <a:latin typeface="Times New Roman"/>
              </a:rPr>
              <a:t> </a:t>
            </a:r>
            <a:r>
              <a:rPr b="0" lang="en-US" sz="3600" spc="-1" strike="noStrike">
                <a:solidFill>
                  <a:srgbClr val="000000"/>
                </a:solidFill>
                <a:latin typeface="Times New Roman"/>
              </a:rPr>
              <a:t>System</a:t>
            </a:r>
            <a:endParaRPr b="0" lang="en-US" sz="3600" spc="-1" strike="noStrike">
              <a:latin typeface="Arial"/>
            </a:endParaRPr>
          </a:p>
        </p:txBody>
      </p:sp>
      <p:sp>
        <p:nvSpPr>
          <p:cNvPr id="87" name="CustomShape 2"/>
          <p:cNvSpPr/>
          <p:nvPr/>
        </p:nvSpPr>
        <p:spPr>
          <a:xfrm>
            <a:off x="838080" y="1825560"/>
            <a:ext cx="10514880" cy="4350600"/>
          </a:xfrm>
          <a:prstGeom prst="rect">
            <a:avLst/>
          </a:prstGeom>
          <a:noFill/>
          <a:ln>
            <a:noFill/>
          </a:ln>
        </p:spPr>
        <p:style>
          <a:lnRef idx="0"/>
          <a:fillRef idx="0"/>
          <a:effectRef idx="0"/>
          <a:fontRef idx="minor"/>
        </p:style>
        <p:txBody>
          <a:bodyPr lIns="90000" rIns="90000" tIns="45000" bIns="45000">
            <a:normAutofit fontScale="60000"/>
          </a:bodyPr>
          <a:p>
            <a:pPr>
              <a:lnSpc>
                <a:spcPct val="90000"/>
              </a:lnSpc>
              <a:spcBef>
                <a:spcPts val="1001"/>
              </a:spcBef>
            </a:pPr>
            <a:r>
              <a:rPr b="0" lang="en-US" sz="2200" spc="-1" strike="noStrike">
                <a:solidFill>
                  <a:srgbClr val="000000"/>
                </a:solidFill>
                <a:latin typeface="Times New Roman"/>
              </a:rPr>
              <a:t>The proposed system is a Dual-Mode Hidden Surveillance Detection System that identifies hidden cameras using both Radio Frequency (RF) and Infrared (IR) detection techniques.</a:t>
            </a:r>
            <a:endParaRPr b="0" lang="en-US" sz="2200" spc="-1" strike="noStrike">
              <a:latin typeface="Arial"/>
            </a:endParaRPr>
          </a:p>
          <a:p>
            <a:pPr>
              <a:lnSpc>
                <a:spcPct val="90000"/>
              </a:lnSpc>
              <a:spcBef>
                <a:spcPts val="1001"/>
              </a:spcBef>
            </a:pPr>
            <a:endParaRPr b="0" lang="en-US" sz="2200" spc="-1" strike="noStrike">
              <a:latin typeface="Arial"/>
            </a:endParaRPr>
          </a:p>
          <a:p>
            <a:pPr>
              <a:lnSpc>
                <a:spcPct val="90000"/>
              </a:lnSpc>
              <a:spcBef>
                <a:spcPts val="1001"/>
              </a:spcBef>
            </a:pPr>
            <a:r>
              <a:rPr b="0" lang="en-US" sz="2200" spc="-1" strike="noStrike">
                <a:solidFill>
                  <a:srgbClr val="000000"/>
                </a:solidFill>
                <a:latin typeface="Times New Roman"/>
              </a:rPr>
              <a:t>It is built around the ESP32 microcontroller, which controls the entire system. RF signals in the 1 GHz–2.4 GHz range are detected using the AD8318 detector, while IR emissions from night-vision cameras are captured using the TSOP1838 sensor.</a:t>
            </a:r>
            <a:endParaRPr b="0" lang="en-US" sz="2200" spc="-1" strike="noStrike">
              <a:latin typeface="Arial"/>
            </a:endParaRPr>
          </a:p>
          <a:p>
            <a:pPr>
              <a:lnSpc>
                <a:spcPct val="90000"/>
              </a:lnSpc>
              <a:spcBef>
                <a:spcPts val="1001"/>
              </a:spcBef>
            </a:pPr>
            <a:endParaRPr b="0" lang="en-US" sz="2200" spc="-1" strike="noStrike">
              <a:latin typeface="Arial"/>
            </a:endParaRPr>
          </a:p>
          <a:p>
            <a:pPr>
              <a:lnSpc>
                <a:spcPct val="90000"/>
              </a:lnSpc>
              <a:spcBef>
                <a:spcPts val="1001"/>
              </a:spcBef>
            </a:pPr>
            <a:r>
              <a:rPr b="0" lang="en-US" sz="2200" spc="-1" strike="noStrike">
                <a:solidFill>
                  <a:srgbClr val="000000"/>
                </a:solidFill>
                <a:latin typeface="Times New Roman"/>
              </a:rPr>
              <a:t>Both detection methods work simultaneously, allowing the system to identify a wide range of surveillance devices. The ESP32 processes the signals, compares them with set thresholds, and detects suspicious activity.</a:t>
            </a:r>
            <a:endParaRPr b="0" lang="en-US" sz="2200" spc="-1" strike="noStrike">
              <a:latin typeface="Arial"/>
            </a:endParaRPr>
          </a:p>
          <a:p>
            <a:pPr>
              <a:lnSpc>
                <a:spcPct val="90000"/>
              </a:lnSpc>
              <a:spcBef>
                <a:spcPts val="1001"/>
              </a:spcBef>
            </a:pPr>
            <a:endParaRPr b="0" lang="en-US" sz="2200" spc="-1" strike="noStrike">
              <a:latin typeface="Arial"/>
            </a:endParaRPr>
          </a:p>
          <a:p>
            <a:pPr>
              <a:lnSpc>
                <a:spcPct val="90000"/>
              </a:lnSpc>
              <a:spcBef>
                <a:spcPts val="1001"/>
              </a:spcBef>
            </a:pPr>
            <a:r>
              <a:rPr b="0" lang="en-US" sz="2200" spc="-1" strike="noStrike">
                <a:solidFill>
                  <a:srgbClr val="000000"/>
                </a:solidFill>
                <a:latin typeface="Times New Roman"/>
              </a:rPr>
              <a:t>When a device is detected, the system gives real-time alerts using:</a:t>
            </a:r>
            <a:endParaRPr b="0" lang="en-US" sz="2200" spc="-1" strike="noStrike">
              <a:latin typeface="Arial"/>
            </a:endParaRPr>
          </a:p>
          <a:p>
            <a:pPr marL="432000" indent="-323640">
              <a:lnSpc>
                <a:spcPct val="90000"/>
              </a:lnSpc>
              <a:spcBef>
                <a:spcPts val="1001"/>
              </a:spcBef>
              <a:buClr>
                <a:srgbClr val="000000"/>
              </a:buClr>
              <a:buSzPct val="45000"/>
              <a:buFont typeface="Wingdings" charset="2"/>
              <a:buChar char=""/>
            </a:pPr>
            <a:r>
              <a:rPr b="0" lang="en-US" sz="2200" spc="-1" strike="noStrike">
                <a:solidFill>
                  <a:srgbClr val="000000"/>
                </a:solidFill>
                <a:latin typeface="Times New Roman"/>
              </a:rPr>
              <a:t>LCD display</a:t>
            </a:r>
            <a:endParaRPr b="0" lang="en-US" sz="2200" spc="-1" strike="noStrike">
              <a:latin typeface="Arial"/>
            </a:endParaRPr>
          </a:p>
          <a:p>
            <a:pPr marL="432000" indent="-323640">
              <a:lnSpc>
                <a:spcPct val="90000"/>
              </a:lnSpc>
              <a:spcBef>
                <a:spcPts val="1001"/>
              </a:spcBef>
              <a:buClr>
                <a:srgbClr val="000000"/>
              </a:buClr>
              <a:buSzPct val="45000"/>
              <a:buFont typeface="Wingdings" charset="2"/>
              <a:buChar char=""/>
            </a:pPr>
            <a:r>
              <a:rPr b="0" lang="en-US" sz="2200" spc="-1" strike="noStrike">
                <a:solidFill>
                  <a:srgbClr val="000000"/>
                </a:solidFill>
                <a:latin typeface="Times New Roman"/>
              </a:rPr>
              <a:t>OLED display (for RF signal strength)</a:t>
            </a:r>
            <a:endParaRPr b="0" lang="en-US" sz="2200" spc="-1" strike="noStrike">
              <a:latin typeface="Arial"/>
            </a:endParaRPr>
          </a:p>
          <a:p>
            <a:pPr marL="432000" indent="-323640">
              <a:lnSpc>
                <a:spcPct val="90000"/>
              </a:lnSpc>
              <a:spcBef>
                <a:spcPts val="1001"/>
              </a:spcBef>
              <a:buClr>
                <a:srgbClr val="000000"/>
              </a:buClr>
              <a:buSzPct val="45000"/>
              <a:buFont typeface="Wingdings" charset="2"/>
              <a:buChar char=""/>
            </a:pPr>
            <a:r>
              <a:rPr b="0" lang="en-US" sz="2200" spc="-1" strike="noStrike">
                <a:solidFill>
                  <a:srgbClr val="000000"/>
                </a:solidFill>
                <a:latin typeface="Times New Roman"/>
              </a:rPr>
              <a:t>Buzzer (audio alert)</a:t>
            </a:r>
            <a:endParaRPr b="0" lang="en-US" sz="2200" spc="-1" strike="noStrike">
              <a:latin typeface="Arial"/>
            </a:endParaRPr>
          </a:p>
          <a:p>
            <a:pPr>
              <a:lnSpc>
                <a:spcPct val="90000"/>
              </a:lnSpc>
              <a:spcBef>
                <a:spcPts val="1001"/>
              </a:spcBef>
            </a:pPr>
            <a:r>
              <a:rPr b="0" lang="en-US" sz="2200" spc="-1" strike="noStrike">
                <a:solidFill>
                  <a:srgbClr val="000000"/>
                </a:solidFill>
                <a:latin typeface="Times New Roman"/>
              </a:rPr>
              <a:t>This dual-mode system improves accuracy, reduces false alarms, and provides a compact, low-cost, and efficient solution for hidden camera detection.</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CustomShape 1"/>
          <p:cNvSpPr/>
          <p:nvPr/>
        </p:nvSpPr>
        <p:spPr>
          <a:xfrm>
            <a:off x="838080" y="365040"/>
            <a:ext cx="10514880" cy="1324800"/>
          </a:xfrm>
          <a:prstGeom prst="rect">
            <a:avLst/>
          </a:prstGeom>
          <a:noFill/>
          <a:ln>
            <a:noFill/>
          </a:ln>
        </p:spPr>
        <p:style>
          <a:lnRef idx="0"/>
          <a:fillRef idx="0"/>
          <a:effectRef idx="0"/>
          <a:fontRef idx="minor"/>
        </p:style>
        <p:txBody>
          <a:bodyPr lIns="90000" rIns="90000" tIns="45000" bIns="45000" anchor="ctr">
            <a:normAutofit/>
          </a:bodyPr>
          <a:p>
            <a:pPr>
              <a:lnSpc>
                <a:spcPct val="90000"/>
              </a:lnSpc>
            </a:pPr>
            <a:r>
              <a:rPr b="0" lang="en-US" sz="3600" spc="-1" strike="noStrike">
                <a:solidFill>
                  <a:srgbClr val="000000"/>
                </a:solidFill>
                <a:latin typeface="Times New Roman"/>
              </a:rPr>
              <a:t>Methodology</a:t>
            </a:r>
            <a:endParaRPr b="0" lang="en-US" sz="3600" spc="-1" strike="noStrike">
              <a:latin typeface="Arial"/>
            </a:endParaRPr>
          </a:p>
        </p:txBody>
      </p:sp>
      <p:sp>
        <p:nvSpPr>
          <p:cNvPr id="89" name="CustomShape 2"/>
          <p:cNvSpPr/>
          <p:nvPr/>
        </p:nvSpPr>
        <p:spPr>
          <a:xfrm>
            <a:off x="838080" y="1825560"/>
            <a:ext cx="10514880" cy="4350600"/>
          </a:xfrm>
          <a:prstGeom prst="rect">
            <a:avLst/>
          </a:prstGeom>
          <a:noFill/>
          <a:ln>
            <a:noFill/>
          </a:ln>
        </p:spPr>
        <p:style>
          <a:lnRef idx="0"/>
          <a:fillRef idx="0"/>
          <a:effectRef idx="0"/>
          <a:fontRef idx="minor"/>
        </p:style>
        <p:txBody>
          <a:bodyPr lIns="90000" rIns="90000" tIns="45000" bIns="45000">
            <a:normAutofit/>
          </a:bodyPr>
          <a:p>
            <a:pPr>
              <a:lnSpc>
                <a:spcPct val="90000"/>
              </a:lnSpc>
              <a:spcBef>
                <a:spcPts val="1001"/>
              </a:spcBef>
            </a:pPr>
            <a:r>
              <a:rPr b="0" lang="en-US" sz="1800" spc="-1" strike="noStrike">
                <a:solidFill>
                  <a:srgbClr val="000000"/>
                </a:solidFill>
                <a:latin typeface="Times New Roman"/>
              </a:rPr>
              <a:t>The system is developed by integrating both RF and IR detection techniques using an ESP32 microcontroller. The AD8318 RF detector captures wireless signals in the environment and converts them into an analog voltage, while the IR sensor detects infrared emissions from night-vision cameras.</a:t>
            </a:r>
            <a:endParaRPr b="0" lang="en-US" sz="1800" spc="-1" strike="noStrike">
              <a:latin typeface="Arial"/>
            </a:endParaRPr>
          </a:p>
          <a:p>
            <a:pPr>
              <a:lnSpc>
                <a:spcPct val="90000"/>
              </a:lnSpc>
              <a:spcBef>
                <a:spcPts val="1001"/>
              </a:spcBef>
            </a:pPr>
            <a:endParaRPr b="0" lang="en-US" sz="1800" spc="-1" strike="noStrike">
              <a:latin typeface="Arial"/>
            </a:endParaRPr>
          </a:p>
          <a:p>
            <a:pPr>
              <a:lnSpc>
                <a:spcPct val="90000"/>
              </a:lnSpc>
              <a:spcBef>
                <a:spcPts val="1001"/>
              </a:spcBef>
            </a:pPr>
            <a:r>
              <a:rPr b="0" lang="en-US" sz="1800" spc="-1" strike="noStrike">
                <a:solidFill>
                  <a:srgbClr val="000000"/>
                </a:solidFill>
                <a:latin typeface="Times New Roman"/>
              </a:rPr>
              <a:t>The ESP32 continuously reads and processes the signals from both modules. The RF signal is converted into digital values using the ADC, and the IR sensor provides digital input. Signal processing techniques such as averaging, threshold comparison, and noise filtering are applied to ensure accurate detection.</a:t>
            </a:r>
            <a:endParaRPr b="0" lang="en-US" sz="1800" spc="-1" strike="noStrike">
              <a:latin typeface="Arial"/>
            </a:endParaRPr>
          </a:p>
          <a:p>
            <a:pPr>
              <a:lnSpc>
                <a:spcPct val="90000"/>
              </a:lnSpc>
              <a:spcBef>
                <a:spcPts val="1001"/>
              </a:spcBef>
            </a:pPr>
            <a:endParaRPr b="0" lang="en-US" sz="1800" spc="-1" strike="noStrike">
              <a:latin typeface="Arial"/>
            </a:endParaRPr>
          </a:p>
          <a:p>
            <a:pPr>
              <a:lnSpc>
                <a:spcPct val="90000"/>
              </a:lnSpc>
              <a:spcBef>
                <a:spcPts val="1001"/>
              </a:spcBef>
            </a:pPr>
            <a:r>
              <a:rPr b="0" lang="en-US" sz="1800" spc="-1" strike="noStrike">
                <a:solidFill>
                  <a:srgbClr val="000000"/>
                </a:solidFill>
                <a:latin typeface="Times New Roman"/>
              </a:rPr>
              <a:t>Based on the processed data, the system determines the presence of hidden surveillance devices. When a signal exceeds the predefined threshold, the system generates real-time alerts through the LCD display, OLED visualization, and buzzer, providing reliable and efficient detection. </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CustomShape 1"/>
          <p:cNvSpPr/>
          <p:nvPr/>
        </p:nvSpPr>
        <p:spPr>
          <a:xfrm>
            <a:off x="838080" y="365040"/>
            <a:ext cx="10514880" cy="924480"/>
          </a:xfrm>
          <a:prstGeom prst="rect">
            <a:avLst/>
          </a:prstGeom>
          <a:noFill/>
          <a:ln>
            <a:noFill/>
          </a:ln>
        </p:spPr>
        <p:style>
          <a:lnRef idx="0"/>
          <a:fillRef idx="0"/>
          <a:effectRef idx="0"/>
          <a:fontRef idx="minor"/>
        </p:style>
        <p:txBody>
          <a:bodyPr lIns="90000" rIns="90000" tIns="45000" bIns="45000" anchor="ctr">
            <a:normAutofit fontScale="73000"/>
          </a:bodyPr>
          <a:p>
            <a:pPr>
              <a:lnSpc>
                <a:spcPct val="90000"/>
              </a:lnSpc>
            </a:pPr>
            <a:r>
              <a:rPr b="0" lang="en-US" sz="4000" spc="-1" strike="noStrike">
                <a:solidFill>
                  <a:srgbClr val="000000"/>
                </a:solidFill>
                <a:latin typeface="Times New Roman"/>
              </a:rPr>
              <a:t>SYSTEM ARCHITECTURE</a:t>
            </a:r>
            <a:br/>
            <a:endParaRPr b="0" lang="en-US" sz="4000" spc="-1" strike="noStrike">
              <a:latin typeface="Arial"/>
            </a:endParaRPr>
          </a:p>
        </p:txBody>
      </p:sp>
      <p:pic>
        <p:nvPicPr>
          <p:cNvPr id="91" name="Content Placeholder 3" descr=""/>
          <p:cNvPicPr/>
          <p:nvPr/>
        </p:nvPicPr>
        <p:blipFill>
          <a:blip r:embed="rId1"/>
          <a:stretch/>
        </p:blipFill>
        <p:spPr>
          <a:xfrm>
            <a:off x="1818720" y="1290240"/>
            <a:ext cx="7040160" cy="5202000"/>
          </a:xfrm>
          <a:prstGeom prst="rect">
            <a:avLst/>
          </a:prstGeom>
          <a:ln>
            <a:noFill/>
          </a:ln>
          <a:effectLst>
            <a:outerShdw algn="l" blurRad="50800" dist="38160"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CustomShape 1"/>
          <p:cNvSpPr/>
          <p:nvPr/>
        </p:nvSpPr>
        <p:spPr>
          <a:xfrm>
            <a:off x="838080" y="365040"/>
            <a:ext cx="10514880" cy="1324800"/>
          </a:xfrm>
          <a:prstGeom prst="rect">
            <a:avLst/>
          </a:prstGeom>
          <a:noFill/>
          <a:ln>
            <a:noFill/>
          </a:ln>
        </p:spPr>
        <p:style>
          <a:lnRef idx="0"/>
          <a:fillRef idx="0"/>
          <a:effectRef idx="0"/>
          <a:fontRef idx="minor"/>
        </p:style>
        <p:txBody>
          <a:bodyPr lIns="90000" rIns="90000" tIns="45000" bIns="45000" anchor="ctr">
            <a:noAutofit/>
          </a:bodyPr>
          <a:p>
            <a:pPr>
              <a:lnSpc>
                <a:spcPct val="90000"/>
              </a:lnSpc>
            </a:pPr>
            <a:r>
              <a:rPr b="0" lang="en-US" sz="3200" spc="-1" strike="noStrike">
                <a:solidFill>
                  <a:srgbClr val="000000"/>
                </a:solidFill>
                <a:latin typeface="Times New Roman"/>
              </a:rPr>
              <a:t>SYSTEM</a:t>
            </a:r>
            <a:r>
              <a:rPr b="0" lang="en-US" sz="4000" spc="-1" strike="noStrike">
                <a:solidFill>
                  <a:srgbClr val="000000"/>
                </a:solidFill>
                <a:latin typeface="Times New Roman"/>
              </a:rPr>
              <a:t> </a:t>
            </a:r>
            <a:r>
              <a:rPr b="0" lang="en-US" sz="3200" spc="-1" strike="noStrike">
                <a:solidFill>
                  <a:srgbClr val="000000"/>
                </a:solidFill>
                <a:latin typeface="Times New Roman"/>
              </a:rPr>
              <a:t>WORKFLOW</a:t>
            </a:r>
            <a:br/>
            <a:endParaRPr b="0" lang="en-US" sz="3200" spc="-1" strike="noStrike">
              <a:latin typeface="Arial"/>
            </a:endParaRPr>
          </a:p>
        </p:txBody>
      </p:sp>
      <p:pic>
        <p:nvPicPr>
          <p:cNvPr id="93" name="Content Placeholder 3" descr=""/>
          <p:cNvPicPr/>
          <p:nvPr/>
        </p:nvPicPr>
        <p:blipFill>
          <a:blip r:embed="rId1"/>
          <a:stretch/>
        </p:blipFill>
        <p:spPr>
          <a:xfrm>
            <a:off x="2001600" y="1690560"/>
            <a:ext cx="7426080" cy="4801320"/>
          </a:xfrm>
          <a:prstGeom prst="rect">
            <a:avLst/>
          </a:prstGeom>
          <a:ln>
            <a:noFill/>
          </a:ln>
          <a:effectLst>
            <a:outerShdw algn="l" blurRad="50800" dist="38160"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TextShape 1"/>
          <p:cNvSpPr txBox="1"/>
          <p:nvPr/>
        </p:nvSpPr>
        <p:spPr>
          <a:xfrm>
            <a:off x="640080" y="457200"/>
            <a:ext cx="10698480" cy="7132320"/>
          </a:xfrm>
          <a:prstGeom prst="rect">
            <a:avLst/>
          </a:prstGeom>
          <a:noFill/>
          <a:ln>
            <a:noFill/>
          </a:ln>
        </p:spPr>
        <p:txBody>
          <a:bodyPr lIns="90000" rIns="90000" tIns="45000" bIns="45000">
            <a:spAutoFit/>
          </a:bodyPr>
          <a:p>
            <a:endParaRPr b="0" lang="en-US" sz="1800" spc="-1" strike="noStrike">
              <a:latin typeface="Arial"/>
            </a:endParaRPr>
          </a:p>
          <a:p>
            <a:r>
              <a:rPr b="1" lang="en-US" sz="1800" spc="-1" strike="noStrike">
                <a:latin typeface="Arial"/>
              </a:rPr>
              <a:t>RF Detection (Radio Frequency)</a:t>
            </a:r>
            <a:endParaRPr b="0" lang="en-US" sz="1800" spc="-1" strike="noStrike">
              <a:latin typeface="Arial"/>
            </a:endParaRPr>
          </a:p>
          <a:p>
            <a:endParaRPr b="0" lang="en-US" sz="1800" spc="-1" strike="noStrike">
              <a:latin typeface="Arial"/>
            </a:endParaRPr>
          </a:p>
          <a:p>
            <a:pPr marL="216000" indent="-216000">
              <a:buClr>
                <a:srgbClr val="000000"/>
              </a:buClr>
              <a:buSzPct val="45000"/>
              <a:buFont typeface="Wingdings" charset="2"/>
              <a:buChar char=""/>
            </a:pPr>
            <a:r>
              <a:rPr b="0" lang="en-US" sz="1600" spc="-1" strike="noStrike">
                <a:latin typeface="Arial"/>
              </a:rPr>
              <a:t>Detects wireless signals from hidden devices (Wi-Fi, Bluetooth, GSM)</a:t>
            </a:r>
            <a:endParaRPr b="0" lang="en-US" sz="1600" spc="-1" strike="noStrike">
              <a:latin typeface="Arial"/>
            </a:endParaRPr>
          </a:p>
          <a:p>
            <a:pPr marL="216000" indent="-216000">
              <a:buClr>
                <a:srgbClr val="000000"/>
              </a:buClr>
              <a:buSzPct val="45000"/>
              <a:buFont typeface="Wingdings" charset="2"/>
              <a:buChar char=""/>
            </a:pPr>
            <a:endParaRPr b="0" lang="en-US" sz="1600" spc="-1" strike="noStrike">
              <a:latin typeface="Arial"/>
            </a:endParaRPr>
          </a:p>
          <a:p>
            <a:pPr marL="216000" indent="-216000">
              <a:buClr>
                <a:srgbClr val="000000"/>
              </a:buClr>
              <a:buSzPct val="45000"/>
              <a:buFont typeface="Wingdings" charset="2"/>
              <a:buChar char=""/>
            </a:pPr>
            <a:r>
              <a:rPr b="0" lang="en-US" sz="1600" spc="-1" strike="noStrike">
                <a:latin typeface="Arial"/>
              </a:rPr>
              <a:t>Works in the frequency range of 1 GHz – 2.4 GHz</a:t>
            </a:r>
            <a:endParaRPr b="0" lang="en-US" sz="1600" spc="-1" strike="noStrike">
              <a:latin typeface="Arial"/>
            </a:endParaRPr>
          </a:p>
          <a:p>
            <a:pPr marL="216000" indent="-216000">
              <a:buClr>
                <a:srgbClr val="000000"/>
              </a:buClr>
              <a:buSzPct val="45000"/>
              <a:buFont typeface="Wingdings" charset="2"/>
              <a:buChar char=""/>
            </a:pPr>
            <a:endParaRPr b="0" lang="en-US" sz="1600" spc="-1" strike="noStrike">
              <a:latin typeface="Arial"/>
            </a:endParaRPr>
          </a:p>
          <a:p>
            <a:pPr marL="216000" indent="-216000">
              <a:buClr>
                <a:srgbClr val="000000"/>
              </a:buClr>
              <a:buSzPct val="45000"/>
              <a:buFont typeface="Wingdings" charset="2"/>
              <a:buChar char=""/>
            </a:pPr>
            <a:r>
              <a:rPr b="0" lang="en-US" sz="1600" spc="-1" strike="noStrike">
                <a:latin typeface="Arial"/>
              </a:rPr>
              <a:t>Uses AD8318 RF detector to measure signal strength</a:t>
            </a:r>
            <a:endParaRPr b="0" lang="en-US" sz="1600" spc="-1" strike="noStrike">
              <a:latin typeface="Arial"/>
            </a:endParaRPr>
          </a:p>
          <a:p>
            <a:pPr marL="216000" indent="-216000">
              <a:buClr>
                <a:srgbClr val="000000"/>
              </a:buClr>
              <a:buSzPct val="45000"/>
              <a:buFont typeface="Wingdings" charset="2"/>
              <a:buChar char=""/>
            </a:pPr>
            <a:endParaRPr b="0" lang="en-US" sz="1600" spc="-1" strike="noStrike">
              <a:latin typeface="Arial"/>
            </a:endParaRPr>
          </a:p>
          <a:p>
            <a:pPr marL="216000" indent="-216000">
              <a:buClr>
                <a:srgbClr val="000000"/>
              </a:buClr>
              <a:buSzPct val="45000"/>
              <a:buFont typeface="Wingdings" charset="2"/>
              <a:buChar char=""/>
            </a:pPr>
            <a:r>
              <a:rPr b="0" lang="en-US" sz="1600" spc="-1" strike="noStrike">
                <a:latin typeface="Arial"/>
              </a:rPr>
              <a:t>Identifies active transmitting cameras or spy devices</a:t>
            </a:r>
            <a:endParaRPr b="0" lang="en-US" sz="1600" spc="-1" strike="noStrike">
              <a:latin typeface="Arial"/>
            </a:endParaRPr>
          </a:p>
          <a:p>
            <a:pPr marL="216000" indent="-216000">
              <a:buClr>
                <a:srgbClr val="000000"/>
              </a:buClr>
              <a:buSzPct val="45000"/>
              <a:buFont typeface="Wingdings" charset="2"/>
              <a:buChar char=""/>
            </a:pPr>
            <a:endParaRPr b="0" lang="en-US" sz="1600" spc="-1" strike="noStrike">
              <a:latin typeface="Arial"/>
            </a:endParaRPr>
          </a:p>
          <a:p>
            <a:pPr marL="216000" indent="-216000">
              <a:buClr>
                <a:srgbClr val="000000"/>
              </a:buClr>
              <a:buSzPct val="45000"/>
              <a:buFont typeface="Wingdings" charset="2"/>
              <a:buChar char=""/>
            </a:pPr>
            <a:r>
              <a:rPr b="0" lang="en-US" sz="1600" spc="-1" strike="noStrike">
                <a:latin typeface="Arial"/>
              </a:rPr>
              <a:t>Triggers alert when signal exceeds a threshold</a:t>
            </a:r>
            <a:endParaRPr b="0" lang="en-US" sz="1600" spc="-1" strike="noStrike">
              <a:latin typeface="Arial"/>
            </a:endParaRPr>
          </a:p>
          <a:p>
            <a:pPr marL="216000" indent="-216000">
              <a:buClr>
                <a:srgbClr val="000000"/>
              </a:buClr>
              <a:buSzPct val="45000"/>
              <a:buFont typeface="Wingdings" charset="2"/>
              <a:buChar char=""/>
            </a:pPr>
            <a:endParaRPr b="0" lang="en-US" sz="1600" spc="-1" strike="noStrike">
              <a:latin typeface="Arial"/>
            </a:endParaRPr>
          </a:p>
          <a:p>
            <a:pPr marL="216000" indent="-216000">
              <a:buClr>
                <a:srgbClr val="000000"/>
              </a:buClr>
              <a:buSzPct val="45000"/>
              <a:buFont typeface="Wingdings" charset="2"/>
              <a:buChar char=""/>
            </a:pPr>
            <a:r>
              <a:rPr b="0" lang="en-US" sz="1600" spc="-1" strike="noStrike">
                <a:latin typeface="Arial"/>
              </a:rPr>
              <a:t>Effective for detecting wireless hidden cameras</a:t>
            </a:r>
            <a:endParaRPr b="0" lang="en-US" sz="1600" spc="-1" strike="noStrike">
              <a:latin typeface="Arial"/>
            </a:endParaRPr>
          </a:p>
          <a:p>
            <a:pPr marL="216000" indent="-216000">
              <a:buClr>
                <a:srgbClr val="000000"/>
              </a:buClr>
              <a:buSzPct val="45000"/>
              <a:buFont typeface="Wingdings" charset="2"/>
              <a:buChar char=""/>
            </a:pPr>
            <a:endParaRPr b="0" lang="en-US" sz="1600" spc="-1" strike="noStrike">
              <a:latin typeface="Arial"/>
            </a:endParaRPr>
          </a:p>
          <a:p>
            <a:pPr marL="216000" indent="-216000">
              <a:buClr>
                <a:srgbClr val="000000"/>
              </a:buClr>
              <a:buSzPct val="45000"/>
              <a:buFont typeface="Wingdings" charset="2"/>
              <a:buChar char=""/>
            </a:pPr>
            <a:r>
              <a:rPr b="1" lang="en-US" sz="1600" spc="-1" strike="noStrike">
                <a:latin typeface="Arial"/>
              </a:rPr>
              <a:t>IR Detection (Infrared)</a:t>
            </a:r>
            <a:endParaRPr b="0" lang="en-US" sz="1600" spc="-1" strike="noStrike">
              <a:latin typeface="Arial"/>
            </a:endParaRPr>
          </a:p>
          <a:p>
            <a:pPr marL="216000" indent="-216000">
              <a:buClr>
                <a:srgbClr val="000000"/>
              </a:buClr>
              <a:buSzPct val="45000"/>
              <a:buFont typeface="Wingdings" charset="2"/>
              <a:buChar char=""/>
            </a:pPr>
            <a:endParaRPr b="0" lang="en-US" sz="1600" spc="-1" strike="noStrike">
              <a:latin typeface="Arial"/>
            </a:endParaRPr>
          </a:p>
          <a:p>
            <a:pPr marL="216000" indent="-216000">
              <a:buClr>
                <a:srgbClr val="000000"/>
              </a:buClr>
              <a:buSzPct val="45000"/>
              <a:buFont typeface="Wingdings" charset="2"/>
              <a:buChar char=""/>
            </a:pPr>
            <a:r>
              <a:rPr b="0" lang="en-US" sz="1600" spc="-1" strike="noStrike">
                <a:latin typeface="Arial"/>
              </a:rPr>
              <a:t>Detects infrared light emitted by night-vision cameras</a:t>
            </a:r>
            <a:endParaRPr b="0" lang="en-US" sz="1600" spc="-1" strike="noStrike">
              <a:latin typeface="Arial"/>
            </a:endParaRPr>
          </a:p>
          <a:p>
            <a:pPr marL="216000" indent="-216000">
              <a:buClr>
                <a:srgbClr val="000000"/>
              </a:buClr>
              <a:buSzPct val="45000"/>
              <a:buFont typeface="Wingdings" charset="2"/>
              <a:buChar char=""/>
            </a:pPr>
            <a:endParaRPr b="0" lang="en-US" sz="1600" spc="-1" strike="noStrike">
              <a:latin typeface="Arial"/>
            </a:endParaRPr>
          </a:p>
          <a:p>
            <a:pPr marL="216000" indent="-216000">
              <a:buClr>
                <a:srgbClr val="000000"/>
              </a:buClr>
              <a:buSzPct val="45000"/>
              <a:buFont typeface="Wingdings" charset="2"/>
              <a:buChar char=""/>
            </a:pPr>
            <a:r>
              <a:rPr b="0" lang="en-US" sz="1600" spc="-1" strike="noStrike">
                <a:latin typeface="Arial"/>
              </a:rPr>
              <a:t>Works even in dark or low-light conditions</a:t>
            </a:r>
            <a:endParaRPr b="0" lang="en-US" sz="1600" spc="-1" strike="noStrike">
              <a:latin typeface="Arial"/>
            </a:endParaRPr>
          </a:p>
          <a:p>
            <a:pPr marL="216000" indent="-216000">
              <a:buClr>
                <a:srgbClr val="000000"/>
              </a:buClr>
              <a:buSzPct val="45000"/>
              <a:buFont typeface="Wingdings" charset="2"/>
              <a:buChar char=""/>
            </a:pPr>
            <a:endParaRPr b="0" lang="en-US" sz="1600" spc="-1" strike="noStrike">
              <a:latin typeface="Arial"/>
            </a:endParaRPr>
          </a:p>
          <a:p>
            <a:pPr marL="216000" indent="-216000">
              <a:buClr>
                <a:srgbClr val="000000"/>
              </a:buClr>
              <a:buSzPct val="45000"/>
              <a:buFont typeface="Wingdings" charset="2"/>
              <a:buChar char=""/>
            </a:pPr>
            <a:r>
              <a:rPr b="0" lang="en-US" sz="1600" spc="-1" strike="noStrike">
                <a:latin typeface="Arial"/>
              </a:rPr>
              <a:t>Uses IR sensor to capture invisible IR radiation</a:t>
            </a:r>
            <a:endParaRPr b="0" lang="en-US" sz="1600" spc="-1" strike="noStrike">
              <a:latin typeface="Arial"/>
            </a:endParaRPr>
          </a:p>
          <a:p>
            <a:pPr marL="216000" indent="-216000">
              <a:buClr>
                <a:srgbClr val="000000"/>
              </a:buClr>
              <a:buSzPct val="45000"/>
              <a:buFont typeface="Wingdings" charset="2"/>
              <a:buChar char=""/>
            </a:pPr>
            <a:endParaRPr b="0" lang="en-US" sz="1600" spc="-1" strike="noStrike">
              <a:latin typeface="Arial"/>
            </a:endParaRPr>
          </a:p>
          <a:p>
            <a:pPr marL="216000" indent="-216000">
              <a:buClr>
                <a:srgbClr val="000000"/>
              </a:buClr>
              <a:buSzPct val="45000"/>
              <a:buFont typeface="Wingdings" charset="2"/>
              <a:buChar char=""/>
            </a:pPr>
            <a:r>
              <a:rPr b="0" lang="en-US" sz="1600" spc="-1" strike="noStrike">
                <a:latin typeface="Arial"/>
              </a:rPr>
              <a:t>Identifies cameras with IR LEDs (night surveillance)</a:t>
            </a:r>
            <a:endParaRPr b="0" lang="en-US" sz="1600" spc="-1" strike="noStrike">
              <a:latin typeface="Arial"/>
            </a:endParaRPr>
          </a:p>
          <a:p>
            <a:pPr marL="216000" indent="-216000">
              <a:buClr>
                <a:srgbClr val="000000"/>
              </a:buClr>
              <a:buSzPct val="45000"/>
              <a:buFont typeface="Wingdings" charset="2"/>
              <a:buChar char=""/>
            </a:pPr>
            <a:endParaRPr b="0" lang="en-US" sz="1600" spc="-1" strike="noStrike">
              <a:latin typeface="Arial"/>
            </a:endParaRPr>
          </a:p>
          <a:p>
            <a:pPr marL="216000" indent="-216000">
              <a:buClr>
                <a:srgbClr val="000000"/>
              </a:buClr>
              <a:buSzPct val="45000"/>
              <a:buFont typeface="Wingdings" charset="2"/>
              <a:buChar char=""/>
            </a:pPr>
            <a:r>
              <a:rPr b="0" lang="en-US" sz="1600" spc="-1" strike="noStrike">
                <a:latin typeface="Arial"/>
              </a:rPr>
              <a:t>Triggers alert when IR burst is detected</a:t>
            </a: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CustomShape 1"/>
          <p:cNvSpPr/>
          <p:nvPr/>
        </p:nvSpPr>
        <p:spPr>
          <a:xfrm>
            <a:off x="838080" y="365040"/>
            <a:ext cx="10514880" cy="1324800"/>
          </a:xfrm>
          <a:prstGeom prst="rect">
            <a:avLst/>
          </a:prstGeom>
          <a:noFill/>
          <a:ln>
            <a:noFill/>
          </a:ln>
        </p:spPr>
        <p:style>
          <a:lnRef idx="0"/>
          <a:fillRef idx="0"/>
          <a:effectRef idx="0"/>
          <a:fontRef idx="minor"/>
        </p:style>
        <p:txBody>
          <a:bodyPr lIns="90000" rIns="90000" tIns="45000" bIns="45000" anchor="ctr">
            <a:normAutofit/>
          </a:bodyPr>
          <a:p>
            <a:pPr>
              <a:lnSpc>
                <a:spcPct val="90000"/>
              </a:lnSpc>
            </a:pPr>
            <a:r>
              <a:rPr b="0" lang="en-US" sz="3200" spc="-1" strike="noStrike">
                <a:solidFill>
                  <a:srgbClr val="000000"/>
                </a:solidFill>
                <a:latin typeface="Times New Roman"/>
              </a:rPr>
              <a:t>HARDWARE</a:t>
            </a:r>
            <a:r>
              <a:rPr b="0" lang="en-US" sz="4000" spc="-1" strike="noStrike">
                <a:solidFill>
                  <a:srgbClr val="000000"/>
                </a:solidFill>
                <a:latin typeface="Times New Roman"/>
              </a:rPr>
              <a:t> </a:t>
            </a:r>
            <a:r>
              <a:rPr b="0" lang="en-US" sz="3200" spc="-1" strike="noStrike">
                <a:solidFill>
                  <a:srgbClr val="000000"/>
                </a:solidFill>
                <a:latin typeface="Times New Roman"/>
              </a:rPr>
              <a:t>REQUIREMENTS</a:t>
            </a:r>
            <a:endParaRPr b="0" lang="en-US" sz="3200" spc="-1" strike="noStrike">
              <a:latin typeface="Arial"/>
            </a:endParaRPr>
          </a:p>
        </p:txBody>
      </p:sp>
      <p:pic>
        <p:nvPicPr>
          <p:cNvPr id="96" name="Content Placeholder 4" descr=""/>
          <p:cNvPicPr/>
          <p:nvPr/>
        </p:nvPicPr>
        <p:blipFill>
          <a:blip r:embed="rId1"/>
          <a:stretch/>
        </p:blipFill>
        <p:spPr>
          <a:xfrm>
            <a:off x="995760" y="1788120"/>
            <a:ext cx="2010960" cy="1477440"/>
          </a:xfrm>
          <a:prstGeom prst="rect">
            <a:avLst/>
          </a:prstGeom>
          <a:ln>
            <a:noFill/>
          </a:ln>
        </p:spPr>
      </p:pic>
      <p:sp>
        <p:nvSpPr>
          <p:cNvPr id="97" name="CustomShape 2"/>
          <p:cNvSpPr/>
          <p:nvPr/>
        </p:nvSpPr>
        <p:spPr>
          <a:xfrm>
            <a:off x="1072800" y="3181320"/>
            <a:ext cx="2031120" cy="494640"/>
          </a:xfrm>
          <a:prstGeom prst="rect">
            <a:avLst/>
          </a:prstGeom>
          <a:noFill/>
          <a:ln>
            <a:noFill/>
          </a:ln>
        </p:spPr>
        <p:style>
          <a:lnRef idx="0"/>
          <a:fillRef idx="0"/>
          <a:effectRef idx="0"/>
          <a:fontRef idx="minor"/>
        </p:style>
        <p:txBody>
          <a:bodyPr lIns="90000" rIns="90000" tIns="45000" bIns="45000">
            <a:noAutofit/>
          </a:bodyPr>
          <a:p>
            <a:pPr marL="182880" indent="-182160">
              <a:lnSpc>
                <a:spcPct val="120000"/>
              </a:lnSpc>
              <a:spcBef>
                <a:spcPts val="901"/>
              </a:spcBef>
              <a:buClr>
                <a:srgbClr val="262626"/>
              </a:buClr>
              <a:buFont typeface="Garamond"/>
              <a:buChar char="◦"/>
            </a:pPr>
            <a:r>
              <a:rPr b="0" lang="en-US" sz="1400" spc="-1" strike="noStrike">
                <a:solidFill>
                  <a:srgbClr val="000000"/>
                </a:solidFill>
                <a:latin typeface="Calibri"/>
                <a:ea typeface="DejaVu Sans"/>
              </a:rPr>
              <a:t>ESP 32 MICRO CONTROLLER</a:t>
            </a:r>
            <a:endParaRPr b="0" lang="en-US" sz="1400" spc="-1" strike="noStrike">
              <a:latin typeface="Arial"/>
            </a:endParaRPr>
          </a:p>
        </p:txBody>
      </p:sp>
      <p:pic>
        <p:nvPicPr>
          <p:cNvPr id="98" name="Picture 6" descr=""/>
          <p:cNvPicPr/>
          <p:nvPr/>
        </p:nvPicPr>
        <p:blipFill>
          <a:blip r:embed="rId2"/>
          <a:stretch/>
        </p:blipFill>
        <p:spPr>
          <a:xfrm>
            <a:off x="3586320" y="2010240"/>
            <a:ext cx="1848240" cy="1033200"/>
          </a:xfrm>
          <a:prstGeom prst="rect">
            <a:avLst/>
          </a:prstGeom>
          <a:ln>
            <a:noFill/>
          </a:ln>
        </p:spPr>
      </p:pic>
      <p:sp>
        <p:nvSpPr>
          <p:cNvPr id="99" name="CustomShape 3"/>
          <p:cNvSpPr/>
          <p:nvPr/>
        </p:nvSpPr>
        <p:spPr>
          <a:xfrm>
            <a:off x="3586320" y="3222000"/>
            <a:ext cx="1848240" cy="413640"/>
          </a:xfrm>
          <a:prstGeom prst="rect">
            <a:avLst/>
          </a:prstGeom>
          <a:noFill/>
          <a:ln>
            <a:noFill/>
          </a:ln>
        </p:spPr>
        <p:style>
          <a:lnRef idx="0"/>
          <a:fillRef idx="0"/>
          <a:effectRef idx="0"/>
          <a:fontRef idx="minor"/>
        </p:style>
        <p:txBody>
          <a:bodyPr lIns="90000" rIns="90000" tIns="45000" bIns="45000">
            <a:noAutofit/>
          </a:bodyPr>
          <a:p>
            <a:pPr marL="182880" indent="-182160">
              <a:lnSpc>
                <a:spcPct val="120000"/>
              </a:lnSpc>
              <a:spcBef>
                <a:spcPts val="901"/>
              </a:spcBef>
              <a:buClr>
                <a:srgbClr val="262626"/>
              </a:buClr>
              <a:buFont typeface="Garamond"/>
              <a:buChar char="◦"/>
            </a:pPr>
            <a:r>
              <a:rPr b="0" lang="en-US" sz="1400" spc="-1" strike="noStrike">
                <a:solidFill>
                  <a:srgbClr val="000000"/>
                </a:solidFill>
                <a:latin typeface="Calibri"/>
                <a:ea typeface="DejaVu Sans"/>
              </a:rPr>
              <a:t>RF DETECTOR</a:t>
            </a:r>
            <a:endParaRPr b="0" lang="en-US" sz="1400" spc="-1" strike="noStrike">
              <a:latin typeface="Arial"/>
            </a:endParaRPr>
          </a:p>
        </p:txBody>
      </p:sp>
      <p:pic>
        <p:nvPicPr>
          <p:cNvPr id="100" name="Picture 8" descr=""/>
          <p:cNvPicPr/>
          <p:nvPr/>
        </p:nvPicPr>
        <p:blipFill>
          <a:blip r:embed="rId3"/>
          <a:stretch/>
        </p:blipFill>
        <p:spPr>
          <a:xfrm>
            <a:off x="6095880" y="1810800"/>
            <a:ext cx="2212200" cy="1369800"/>
          </a:xfrm>
          <a:prstGeom prst="rect">
            <a:avLst/>
          </a:prstGeom>
          <a:ln>
            <a:noFill/>
          </a:ln>
        </p:spPr>
      </p:pic>
      <p:sp>
        <p:nvSpPr>
          <p:cNvPr id="101" name="CustomShape 4"/>
          <p:cNvSpPr/>
          <p:nvPr/>
        </p:nvSpPr>
        <p:spPr>
          <a:xfrm>
            <a:off x="5917320" y="3266280"/>
            <a:ext cx="2212200" cy="603720"/>
          </a:xfrm>
          <a:prstGeom prst="rect">
            <a:avLst/>
          </a:prstGeom>
          <a:noFill/>
          <a:ln>
            <a:noFill/>
          </a:ln>
        </p:spPr>
        <p:style>
          <a:lnRef idx="0"/>
          <a:fillRef idx="0"/>
          <a:effectRef idx="0"/>
          <a:fontRef idx="minor"/>
        </p:style>
        <p:txBody>
          <a:bodyPr lIns="90000" rIns="90000" tIns="45000" bIns="45000">
            <a:noAutofit/>
          </a:bodyPr>
          <a:p>
            <a:pPr marL="182880" indent="-182160">
              <a:lnSpc>
                <a:spcPct val="120000"/>
              </a:lnSpc>
              <a:spcBef>
                <a:spcPts val="901"/>
              </a:spcBef>
              <a:buClr>
                <a:srgbClr val="262626"/>
              </a:buClr>
              <a:buFont typeface="Garamond"/>
              <a:buChar char="◦"/>
            </a:pPr>
            <a:r>
              <a:rPr b="0" lang="en-US" sz="1400" spc="-1" strike="noStrike">
                <a:solidFill>
                  <a:srgbClr val="000000"/>
                </a:solidFill>
                <a:latin typeface="Calibri"/>
                <a:ea typeface="DejaVu Sans"/>
              </a:rPr>
              <a:t>EXTERNAL ANTENNA</a:t>
            </a:r>
            <a:endParaRPr b="0" lang="en-US" sz="1400" spc="-1" strike="noStrike">
              <a:latin typeface="Arial"/>
            </a:endParaRPr>
          </a:p>
        </p:txBody>
      </p:sp>
      <p:pic>
        <p:nvPicPr>
          <p:cNvPr id="102" name="Picture 10" descr=""/>
          <p:cNvPicPr/>
          <p:nvPr/>
        </p:nvPicPr>
        <p:blipFill>
          <a:blip r:embed="rId4"/>
          <a:stretch/>
        </p:blipFill>
        <p:spPr>
          <a:xfrm>
            <a:off x="8611560" y="1788120"/>
            <a:ext cx="2031120" cy="1477440"/>
          </a:xfrm>
          <a:prstGeom prst="rect">
            <a:avLst/>
          </a:prstGeom>
          <a:ln>
            <a:noFill/>
          </a:ln>
        </p:spPr>
      </p:pic>
      <p:sp>
        <p:nvSpPr>
          <p:cNvPr id="103" name="CustomShape 5"/>
          <p:cNvSpPr/>
          <p:nvPr/>
        </p:nvSpPr>
        <p:spPr>
          <a:xfrm>
            <a:off x="8374680" y="3266280"/>
            <a:ext cx="1875240" cy="386640"/>
          </a:xfrm>
          <a:prstGeom prst="rect">
            <a:avLst/>
          </a:prstGeom>
          <a:noFill/>
          <a:ln>
            <a:noFill/>
          </a:ln>
        </p:spPr>
        <p:style>
          <a:lnRef idx="0"/>
          <a:fillRef idx="0"/>
          <a:effectRef idx="0"/>
          <a:fontRef idx="minor"/>
        </p:style>
        <p:txBody>
          <a:bodyPr lIns="90000" rIns="90000" tIns="45000" bIns="45000">
            <a:normAutofit/>
          </a:bodyPr>
          <a:p>
            <a:pPr marL="228600" indent="-227880">
              <a:lnSpc>
                <a:spcPct val="90000"/>
              </a:lnSpc>
              <a:spcBef>
                <a:spcPts val="1001"/>
              </a:spcBef>
              <a:buClr>
                <a:srgbClr val="000000"/>
              </a:buClr>
              <a:buFont typeface="Courier New"/>
              <a:buChar char="o"/>
            </a:pPr>
            <a:r>
              <a:rPr b="0" lang="en-US" sz="1400" spc="-1" strike="noStrike">
                <a:solidFill>
                  <a:srgbClr val="000000"/>
                </a:solidFill>
                <a:latin typeface="Calibri"/>
                <a:ea typeface="DejaVu Sans"/>
              </a:rPr>
              <a:t>IR  SENSOR</a:t>
            </a:r>
            <a:endParaRPr b="0" lang="en-US" sz="1400" spc="-1" strike="noStrike">
              <a:latin typeface="Arial"/>
            </a:endParaRPr>
          </a:p>
        </p:txBody>
      </p:sp>
      <p:pic>
        <p:nvPicPr>
          <p:cNvPr id="104" name="Picture 2" descr=""/>
          <p:cNvPicPr/>
          <p:nvPr/>
        </p:nvPicPr>
        <p:blipFill>
          <a:blip r:embed="rId5"/>
          <a:stretch/>
        </p:blipFill>
        <p:spPr>
          <a:xfrm>
            <a:off x="1072800" y="3897000"/>
            <a:ext cx="2031120" cy="1680120"/>
          </a:xfrm>
          <a:prstGeom prst="rect">
            <a:avLst/>
          </a:prstGeom>
          <a:ln>
            <a:noFill/>
          </a:ln>
        </p:spPr>
      </p:pic>
      <p:sp>
        <p:nvSpPr>
          <p:cNvPr id="105" name="CustomShape 6"/>
          <p:cNvSpPr/>
          <p:nvPr/>
        </p:nvSpPr>
        <p:spPr>
          <a:xfrm>
            <a:off x="1150920" y="5517000"/>
            <a:ext cx="1875240" cy="406440"/>
          </a:xfrm>
          <a:prstGeom prst="rect">
            <a:avLst/>
          </a:prstGeom>
          <a:noFill/>
          <a:ln>
            <a:noFill/>
          </a:ln>
        </p:spPr>
        <p:style>
          <a:lnRef idx="0"/>
          <a:fillRef idx="0"/>
          <a:effectRef idx="0"/>
          <a:fontRef idx="minor"/>
        </p:style>
        <p:txBody>
          <a:bodyPr lIns="90000" rIns="90000" tIns="45000" bIns="45000">
            <a:noAutofit/>
          </a:bodyPr>
          <a:p>
            <a:pPr marL="182880" indent="-182160">
              <a:lnSpc>
                <a:spcPct val="120000"/>
              </a:lnSpc>
              <a:spcBef>
                <a:spcPts val="901"/>
              </a:spcBef>
              <a:buClr>
                <a:srgbClr val="262626"/>
              </a:buClr>
              <a:buFont typeface="Garamond"/>
              <a:buChar char="◦"/>
            </a:pPr>
            <a:r>
              <a:rPr b="0" lang="en-US" sz="1400" spc="-1" strike="noStrike">
                <a:solidFill>
                  <a:srgbClr val="000000"/>
                </a:solidFill>
                <a:latin typeface="Calibri"/>
                <a:ea typeface="DejaVu Sans"/>
              </a:rPr>
              <a:t>LCD DISPLAY</a:t>
            </a:r>
            <a:endParaRPr b="0" lang="en-US" sz="1400" spc="-1" strike="noStrike">
              <a:latin typeface="Arial"/>
            </a:endParaRPr>
          </a:p>
        </p:txBody>
      </p:sp>
      <p:pic>
        <p:nvPicPr>
          <p:cNvPr id="106" name="Picture 14" descr=""/>
          <p:cNvPicPr/>
          <p:nvPr/>
        </p:nvPicPr>
        <p:blipFill>
          <a:blip r:embed="rId6"/>
          <a:stretch/>
        </p:blipFill>
        <p:spPr>
          <a:xfrm>
            <a:off x="3586320" y="3897000"/>
            <a:ext cx="1848240" cy="1426320"/>
          </a:xfrm>
          <a:prstGeom prst="rect">
            <a:avLst/>
          </a:prstGeom>
          <a:ln>
            <a:noFill/>
          </a:ln>
        </p:spPr>
      </p:pic>
      <p:sp>
        <p:nvSpPr>
          <p:cNvPr id="107" name="CustomShape 7"/>
          <p:cNvSpPr/>
          <p:nvPr/>
        </p:nvSpPr>
        <p:spPr>
          <a:xfrm>
            <a:off x="3651120" y="5517000"/>
            <a:ext cx="2253960" cy="426600"/>
          </a:xfrm>
          <a:prstGeom prst="rect">
            <a:avLst/>
          </a:prstGeom>
          <a:noFill/>
          <a:ln>
            <a:noFill/>
          </a:ln>
        </p:spPr>
        <p:style>
          <a:lnRef idx="0"/>
          <a:fillRef idx="0"/>
          <a:effectRef idx="0"/>
          <a:fontRef idx="minor"/>
        </p:style>
        <p:txBody>
          <a:bodyPr lIns="90000" rIns="90000" tIns="45000" bIns="45000">
            <a:noAutofit/>
          </a:bodyPr>
          <a:p>
            <a:pPr marL="182880" indent="-182160">
              <a:lnSpc>
                <a:spcPct val="120000"/>
              </a:lnSpc>
              <a:spcBef>
                <a:spcPts val="901"/>
              </a:spcBef>
              <a:buClr>
                <a:srgbClr val="262626"/>
              </a:buClr>
              <a:buFont typeface="Garamond"/>
              <a:buChar char="◦"/>
            </a:pPr>
            <a:r>
              <a:rPr b="0" lang="en-US" sz="1400" spc="-1" strike="noStrike">
                <a:solidFill>
                  <a:srgbClr val="000000"/>
                </a:solidFill>
                <a:latin typeface="Calibri"/>
                <a:ea typeface="DejaVu Sans"/>
              </a:rPr>
              <a:t>OLED DISPLAY</a:t>
            </a:r>
            <a:endParaRPr b="0" lang="en-US" sz="1400" spc="-1" strike="noStrike">
              <a:latin typeface="Arial"/>
            </a:endParaRPr>
          </a:p>
        </p:txBody>
      </p:sp>
      <p:pic>
        <p:nvPicPr>
          <p:cNvPr id="108" name="Picture 16" descr=""/>
          <p:cNvPicPr/>
          <p:nvPr/>
        </p:nvPicPr>
        <p:blipFill>
          <a:blip r:embed="rId7"/>
          <a:stretch/>
        </p:blipFill>
        <p:spPr>
          <a:xfrm>
            <a:off x="6095880" y="3897000"/>
            <a:ext cx="2212200" cy="1619280"/>
          </a:xfrm>
          <a:prstGeom prst="rect">
            <a:avLst/>
          </a:prstGeom>
          <a:ln>
            <a:noFill/>
          </a:ln>
        </p:spPr>
      </p:pic>
      <p:sp>
        <p:nvSpPr>
          <p:cNvPr id="109" name="CustomShape 8"/>
          <p:cNvSpPr/>
          <p:nvPr/>
        </p:nvSpPr>
        <p:spPr>
          <a:xfrm>
            <a:off x="6095880" y="5517000"/>
            <a:ext cx="2199240" cy="440280"/>
          </a:xfrm>
          <a:prstGeom prst="rect">
            <a:avLst/>
          </a:prstGeom>
          <a:noFill/>
          <a:ln>
            <a:noFill/>
          </a:ln>
        </p:spPr>
        <p:style>
          <a:lnRef idx="0"/>
          <a:fillRef idx="0"/>
          <a:effectRef idx="0"/>
          <a:fontRef idx="minor"/>
        </p:style>
        <p:txBody>
          <a:bodyPr lIns="90000" rIns="90000" tIns="45000" bIns="45000">
            <a:noAutofit/>
          </a:bodyPr>
          <a:p>
            <a:pPr marL="182880" indent="-182160">
              <a:lnSpc>
                <a:spcPct val="120000"/>
              </a:lnSpc>
              <a:spcBef>
                <a:spcPts val="901"/>
              </a:spcBef>
              <a:buClr>
                <a:srgbClr val="262626"/>
              </a:buClr>
              <a:buFont typeface="Garamond"/>
              <a:buChar char="◦"/>
            </a:pPr>
            <a:r>
              <a:rPr b="0" lang="en-US" sz="1400" spc="-1" strike="noStrike">
                <a:solidFill>
                  <a:srgbClr val="000000"/>
                </a:solidFill>
                <a:latin typeface="Calibri"/>
                <a:ea typeface="DejaVu Sans"/>
              </a:rPr>
              <a:t>PIEZO BUZZER</a:t>
            </a:r>
            <a:endParaRPr b="0" lang="en-US" sz="1400" spc="-1" strike="noStrike">
              <a:latin typeface="Arial"/>
            </a:endParaRPr>
          </a:p>
        </p:txBody>
      </p:sp>
      <p:pic>
        <p:nvPicPr>
          <p:cNvPr id="110" name="Picture 18" descr=""/>
          <p:cNvPicPr/>
          <p:nvPr/>
        </p:nvPicPr>
        <p:blipFill>
          <a:blip r:embed="rId8"/>
          <a:stretch/>
        </p:blipFill>
        <p:spPr>
          <a:xfrm>
            <a:off x="8611560" y="3871080"/>
            <a:ext cx="2031120" cy="1719720"/>
          </a:xfrm>
          <a:prstGeom prst="rect">
            <a:avLst/>
          </a:prstGeom>
          <a:ln>
            <a:noFill/>
          </a:ln>
        </p:spPr>
      </p:pic>
      <p:sp>
        <p:nvSpPr>
          <p:cNvPr id="111" name="CustomShape 9"/>
          <p:cNvSpPr/>
          <p:nvPr/>
        </p:nvSpPr>
        <p:spPr>
          <a:xfrm>
            <a:off x="8662680" y="5577840"/>
            <a:ext cx="1929600" cy="440280"/>
          </a:xfrm>
          <a:prstGeom prst="rect">
            <a:avLst/>
          </a:prstGeom>
          <a:noFill/>
          <a:ln>
            <a:noFill/>
          </a:ln>
        </p:spPr>
        <p:style>
          <a:lnRef idx="0"/>
          <a:fillRef idx="0"/>
          <a:effectRef idx="0"/>
          <a:fontRef idx="minor"/>
        </p:style>
        <p:txBody>
          <a:bodyPr lIns="90000" rIns="90000" tIns="45000" bIns="45000">
            <a:noAutofit/>
          </a:bodyPr>
          <a:p>
            <a:pPr marL="182880" indent="-182160">
              <a:lnSpc>
                <a:spcPct val="120000"/>
              </a:lnSpc>
              <a:spcBef>
                <a:spcPts val="901"/>
              </a:spcBef>
              <a:buClr>
                <a:srgbClr val="262626"/>
              </a:buClr>
              <a:buFont typeface="Garamond"/>
              <a:buChar char="◦"/>
            </a:pPr>
            <a:r>
              <a:rPr b="0" lang="en-US" sz="1400" spc="-1" strike="noStrike">
                <a:solidFill>
                  <a:srgbClr val="000000"/>
                </a:solidFill>
                <a:latin typeface="Calibri"/>
                <a:ea typeface="DejaVu Sans"/>
              </a:rPr>
              <a:t>POWER SUPPLY</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CustomShape 1"/>
          <p:cNvSpPr/>
          <p:nvPr/>
        </p:nvSpPr>
        <p:spPr>
          <a:xfrm>
            <a:off x="838080" y="365040"/>
            <a:ext cx="10514880" cy="1324800"/>
          </a:xfrm>
          <a:prstGeom prst="rect">
            <a:avLst/>
          </a:prstGeom>
          <a:noFill/>
          <a:ln>
            <a:noFill/>
          </a:ln>
        </p:spPr>
        <p:style>
          <a:lnRef idx="0"/>
          <a:fillRef idx="0"/>
          <a:effectRef idx="0"/>
          <a:fontRef idx="minor"/>
        </p:style>
        <p:txBody>
          <a:bodyPr lIns="90000" rIns="90000" tIns="45000" bIns="45000" anchor="ctr">
            <a:noAutofit/>
          </a:bodyPr>
          <a:p>
            <a:pPr>
              <a:lnSpc>
                <a:spcPct val="90000"/>
              </a:lnSpc>
            </a:pPr>
            <a:r>
              <a:rPr b="0" lang="en-US" sz="3600" spc="-1" strike="noStrike">
                <a:solidFill>
                  <a:srgbClr val="000000"/>
                </a:solidFill>
                <a:latin typeface="Times New Roman"/>
              </a:rPr>
              <a:t>Hardware</a:t>
            </a:r>
            <a:r>
              <a:rPr b="0" lang="en-US" sz="4000" spc="-1" strike="noStrike">
                <a:solidFill>
                  <a:srgbClr val="000000"/>
                </a:solidFill>
                <a:latin typeface="Times New Roman"/>
              </a:rPr>
              <a:t> </a:t>
            </a:r>
            <a:r>
              <a:rPr b="0" lang="en-US" sz="3600" spc="-1" strike="noStrike">
                <a:solidFill>
                  <a:srgbClr val="000000"/>
                </a:solidFill>
                <a:latin typeface="Times New Roman"/>
              </a:rPr>
              <a:t>Circuit</a:t>
            </a:r>
            <a:r>
              <a:rPr b="0" lang="en-US" sz="4000" spc="-1" strike="noStrike">
                <a:solidFill>
                  <a:srgbClr val="000000"/>
                </a:solidFill>
                <a:latin typeface="Times New Roman"/>
              </a:rPr>
              <a:t> </a:t>
            </a:r>
            <a:r>
              <a:rPr b="0" lang="en-US" sz="3600" spc="-1" strike="noStrike">
                <a:solidFill>
                  <a:srgbClr val="000000"/>
                </a:solidFill>
                <a:latin typeface="Times New Roman"/>
              </a:rPr>
              <a:t>Design</a:t>
            </a:r>
            <a:r>
              <a:rPr b="0" lang="en-US" sz="4000" spc="-1" strike="noStrike">
                <a:solidFill>
                  <a:srgbClr val="000000"/>
                </a:solidFill>
                <a:latin typeface="Times New Roman"/>
              </a:rPr>
              <a:t> </a:t>
            </a:r>
            <a:br/>
            <a:endParaRPr b="0" lang="en-US" sz="4000" spc="-1" strike="noStrike">
              <a:latin typeface="Arial"/>
            </a:endParaRPr>
          </a:p>
        </p:txBody>
      </p:sp>
      <p:pic>
        <p:nvPicPr>
          <p:cNvPr id="113" name="Content Placeholder 3" descr=""/>
          <p:cNvPicPr/>
          <p:nvPr/>
        </p:nvPicPr>
        <p:blipFill>
          <a:blip r:embed="rId1"/>
          <a:stretch/>
        </p:blipFill>
        <p:spPr>
          <a:xfrm>
            <a:off x="2682360" y="1442880"/>
            <a:ext cx="5952960" cy="4977720"/>
          </a:xfrm>
          <a:prstGeom prst="rect">
            <a:avLst/>
          </a:prstGeom>
          <a:ln>
            <a:noFill/>
          </a:ln>
          <a:effectLst>
            <a:outerShdw algn="l" blurRad="50800" dist="38160"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CustomShape 1"/>
          <p:cNvSpPr/>
          <p:nvPr/>
        </p:nvSpPr>
        <p:spPr>
          <a:xfrm>
            <a:off x="838080" y="365040"/>
            <a:ext cx="10514880" cy="1324800"/>
          </a:xfrm>
          <a:prstGeom prst="rect">
            <a:avLst/>
          </a:prstGeom>
          <a:noFill/>
          <a:ln>
            <a:noFill/>
          </a:ln>
        </p:spPr>
        <p:style>
          <a:lnRef idx="0"/>
          <a:fillRef idx="0"/>
          <a:effectRef idx="0"/>
          <a:fontRef idx="minor"/>
        </p:style>
        <p:txBody>
          <a:bodyPr lIns="90000" rIns="90000" tIns="45000" bIns="45000" anchor="ctr">
            <a:normAutofit/>
          </a:bodyPr>
          <a:p>
            <a:pPr>
              <a:lnSpc>
                <a:spcPct val="90000"/>
              </a:lnSpc>
            </a:pPr>
            <a:r>
              <a:rPr b="0" lang="en-US" sz="3600" spc="-1" strike="noStrike">
                <a:solidFill>
                  <a:srgbClr val="000000"/>
                </a:solidFill>
                <a:latin typeface="Times New Roman"/>
              </a:rPr>
              <a:t>Advantages</a:t>
            </a:r>
            <a:endParaRPr b="0" lang="en-US" sz="3600" spc="-1" strike="noStrike">
              <a:latin typeface="Arial"/>
            </a:endParaRPr>
          </a:p>
        </p:txBody>
      </p:sp>
      <p:sp>
        <p:nvSpPr>
          <p:cNvPr id="115" name="CustomShape 2"/>
          <p:cNvSpPr/>
          <p:nvPr/>
        </p:nvSpPr>
        <p:spPr>
          <a:xfrm>
            <a:off x="838080" y="1684440"/>
            <a:ext cx="10514880" cy="4350600"/>
          </a:xfrm>
          <a:prstGeom prst="rect">
            <a:avLst/>
          </a:prstGeom>
          <a:noFill/>
          <a:ln>
            <a:noFill/>
          </a:ln>
        </p:spPr>
        <p:style>
          <a:lnRef idx="0"/>
          <a:fillRef idx="0"/>
          <a:effectRef idx="0"/>
          <a:fontRef idx="minor"/>
        </p:style>
        <p:txBody>
          <a:bodyPr lIns="90000" rIns="90000" tIns="45000" bIns="45000">
            <a:noAutofit/>
          </a:bodyPr>
          <a:p>
            <a:pPr marL="228600" indent="-227880">
              <a:lnSpc>
                <a:spcPct val="90000"/>
              </a:lnSpc>
              <a:spcBef>
                <a:spcPts val="1001"/>
              </a:spcBef>
              <a:buClr>
                <a:srgbClr val="000000"/>
              </a:buClr>
              <a:buFont typeface="Arial"/>
              <a:buChar char="•"/>
            </a:pPr>
            <a:r>
              <a:rPr b="1" lang="en-US" sz="2000" spc="-1" strike="noStrike">
                <a:solidFill>
                  <a:srgbClr val="000000"/>
                </a:solidFill>
                <a:latin typeface="Times New Roman"/>
              </a:rPr>
              <a:t>Dual Detection Capability:</a:t>
            </a:r>
            <a:br/>
            <a:r>
              <a:rPr b="0" lang="en-US" sz="2000" spc="-1" strike="noStrike">
                <a:solidFill>
                  <a:srgbClr val="000000"/>
                </a:solidFill>
                <a:latin typeface="Times New Roman"/>
              </a:rPr>
              <a:t>Unlike existing systems that use only RF or IR, the proposed system combines both, enabling detection of a wider range of hidden cameras. </a:t>
            </a:r>
            <a:endParaRPr b="0" lang="en-US" sz="2000" spc="-1" strike="noStrike">
              <a:latin typeface="Arial"/>
            </a:endParaRPr>
          </a:p>
          <a:p>
            <a:pPr marL="228600" indent="-227880">
              <a:lnSpc>
                <a:spcPct val="90000"/>
              </a:lnSpc>
              <a:spcBef>
                <a:spcPts val="1001"/>
              </a:spcBef>
              <a:buClr>
                <a:srgbClr val="000000"/>
              </a:buClr>
              <a:buFont typeface="Arial"/>
              <a:buChar char="•"/>
            </a:pPr>
            <a:r>
              <a:rPr b="1" lang="en-US" sz="2000" spc="-1" strike="noStrike">
                <a:solidFill>
                  <a:srgbClr val="000000"/>
                </a:solidFill>
                <a:latin typeface="Times New Roman"/>
              </a:rPr>
              <a:t>Improved Accuracy:</a:t>
            </a:r>
            <a:br/>
            <a:r>
              <a:rPr b="0" lang="en-US" sz="2000" spc="-1" strike="noStrike">
                <a:solidFill>
                  <a:srgbClr val="000000"/>
                </a:solidFill>
                <a:latin typeface="Times New Roman"/>
              </a:rPr>
              <a:t>By integrating two sensing methods, the system reduces missed detections and increases reliability. </a:t>
            </a:r>
            <a:endParaRPr b="0" lang="en-US" sz="2000" spc="-1" strike="noStrike">
              <a:latin typeface="Arial"/>
            </a:endParaRPr>
          </a:p>
          <a:p>
            <a:pPr marL="228600" indent="-227880">
              <a:lnSpc>
                <a:spcPct val="90000"/>
              </a:lnSpc>
              <a:spcBef>
                <a:spcPts val="1001"/>
              </a:spcBef>
              <a:buClr>
                <a:srgbClr val="000000"/>
              </a:buClr>
              <a:buFont typeface="Arial"/>
              <a:buChar char="•"/>
            </a:pPr>
            <a:r>
              <a:rPr b="1" lang="en-US" sz="2000" spc="-1" strike="noStrike">
                <a:solidFill>
                  <a:srgbClr val="000000"/>
                </a:solidFill>
                <a:latin typeface="Times New Roman"/>
              </a:rPr>
              <a:t>Reduced False Alarms:</a:t>
            </a:r>
            <a:br/>
            <a:r>
              <a:rPr b="0" lang="en-US" sz="2000" spc="-1" strike="noStrike">
                <a:solidFill>
                  <a:srgbClr val="000000"/>
                </a:solidFill>
                <a:latin typeface="Times New Roman"/>
              </a:rPr>
              <a:t>Filtering techniques and threshold logic minimize false positives compared to conventional detectors. </a:t>
            </a:r>
            <a:endParaRPr b="0" lang="en-US" sz="2000" spc="-1" strike="noStrike">
              <a:latin typeface="Arial"/>
            </a:endParaRPr>
          </a:p>
          <a:p>
            <a:pPr marL="228600" indent="-227880">
              <a:lnSpc>
                <a:spcPct val="90000"/>
              </a:lnSpc>
              <a:spcBef>
                <a:spcPts val="1001"/>
              </a:spcBef>
              <a:buClr>
                <a:srgbClr val="000000"/>
              </a:buClr>
              <a:buFont typeface="Arial"/>
              <a:buChar char="•"/>
            </a:pPr>
            <a:r>
              <a:rPr b="1" lang="en-US" sz="2000" spc="-1" strike="noStrike">
                <a:solidFill>
                  <a:srgbClr val="000000"/>
                </a:solidFill>
                <a:latin typeface="Times New Roman"/>
              </a:rPr>
              <a:t>Real-Time Detection:</a:t>
            </a:r>
            <a:br/>
            <a:r>
              <a:rPr b="0" lang="en-US" sz="2000" spc="-1" strike="noStrike">
                <a:solidFill>
                  <a:srgbClr val="000000"/>
                </a:solidFill>
                <a:latin typeface="Times New Roman"/>
              </a:rPr>
              <a:t>Provides instant alerts through LCD, OLED, and buzzer, whereas many existing systems lack proper real-time feedback. </a:t>
            </a:r>
            <a:endParaRPr b="0" lang="en-US" sz="2000" spc="-1" strike="noStrike">
              <a:latin typeface="Arial"/>
            </a:endParaRPr>
          </a:p>
          <a:p>
            <a:pPr marL="228600" indent="-227880">
              <a:lnSpc>
                <a:spcPct val="90000"/>
              </a:lnSpc>
              <a:spcBef>
                <a:spcPts val="1001"/>
              </a:spcBef>
              <a:buClr>
                <a:srgbClr val="000000"/>
              </a:buClr>
              <a:buFont typeface="Arial"/>
              <a:buChar char="•"/>
            </a:pPr>
            <a:r>
              <a:rPr b="1" lang="en-US" sz="2000" spc="-1" strike="noStrike">
                <a:solidFill>
                  <a:srgbClr val="000000"/>
                </a:solidFill>
                <a:latin typeface="Times New Roman"/>
              </a:rPr>
              <a:t>User-Friendly Operation:</a:t>
            </a:r>
            <a:br/>
            <a:r>
              <a:rPr b="0" lang="en-US" sz="2000" spc="-1" strike="noStrike">
                <a:solidFill>
                  <a:srgbClr val="000000"/>
                </a:solidFill>
                <a:latin typeface="Times New Roman"/>
              </a:rPr>
              <a:t>Simple interface with clear alerts, unlike systems requiring manual interpretation. </a:t>
            </a:r>
            <a:endParaRPr b="0" lang="en-US" sz="2000" spc="-1" strike="noStrike">
              <a:latin typeface="Arial"/>
            </a:endParaRPr>
          </a:p>
          <a:p>
            <a:pPr>
              <a:lnSpc>
                <a:spcPct val="90000"/>
              </a:lnSpc>
              <a:spcBef>
                <a:spcPts val="1001"/>
              </a:spcBef>
            </a:pP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CustomShape 1"/>
          <p:cNvSpPr/>
          <p:nvPr/>
        </p:nvSpPr>
        <p:spPr>
          <a:xfrm>
            <a:off x="838080" y="365040"/>
            <a:ext cx="10514880" cy="1324800"/>
          </a:xfrm>
          <a:prstGeom prst="rect">
            <a:avLst/>
          </a:prstGeom>
          <a:noFill/>
          <a:ln>
            <a:noFill/>
          </a:ln>
        </p:spPr>
        <p:style>
          <a:lnRef idx="0"/>
          <a:fillRef idx="0"/>
          <a:effectRef idx="0"/>
          <a:fontRef idx="minor"/>
        </p:style>
        <p:txBody>
          <a:bodyPr lIns="90000" rIns="90000" tIns="45000" bIns="45000" anchor="ctr">
            <a:noAutofit/>
          </a:bodyPr>
          <a:p>
            <a:pPr>
              <a:lnSpc>
                <a:spcPct val="90000"/>
              </a:lnSpc>
            </a:pPr>
            <a:r>
              <a:rPr b="0" lang="en-US" sz="3600" spc="-1" strike="noStrike">
                <a:solidFill>
                  <a:srgbClr val="000000"/>
                </a:solidFill>
                <a:latin typeface="Times New Roman"/>
              </a:rPr>
              <a:t>Applications</a:t>
            </a:r>
            <a:endParaRPr b="0" lang="en-US" sz="3600" spc="-1" strike="noStrike">
              <a:latin typeface="Arial"/>
            </a:endParaRPr>
          </a:p>
        </p:txBody>
      </p:sp>
      <p:sp>
        <p:nvSpPr>
          <p:cNvPr id="117" name="CustomShape 2"/>
          <p:cNvSpPr/>
          <p:nvPr/>
        </p:nvSpPr>
        <p:spPr>
          <a:xfrm>
            <a:off x="731520" y="1689840"/>
            <a:ext cx="10514880" cy="3749760"/>
          </a:xfrm>
          <a:prstGeom prst="rect">
            <a:avLst/>
          </a:prstGeom>
          <a:noFill/>
          <a:ln>
            <a:noFill/>
          </a:ln>
        </p:spPr>
        <p:style>
          <a:lnRef idx="0"/>
          <a:fillRef idx="0"/>
          <a:effectRef idx="0"/>
          <a:fontRef idx="minor"/>
        </p:style>
        <p:txBody>
          <a:bodyPr lIns="90000" rIns="90000" tIns="45000" bIns="45000" anchor="ctr">
            <a:spAutoFit/>
          </a:bodyPr>
          <a:p>
            <a:pPr marL="216000" indent="-216000">
              <a:lnSpc>
                <a:spcPct val="100000"/>
              </a:lnSpc>
              <a:buClr>
                <a:srgbClr val="000000"/>
              </a:buClr>
              <a:buFont typeface="Arial"/>
              <a:buChar char="•"/>
            </a:pPr>
            <a:r>
              <a:rPr b="1" lang="en-US" sz="2000" spc="-1" strike="noStrike">
                <a:solidFill>
                  <a:srgbClr val="000000"/>
                </a:solidFill>
                <a:latin typeface="Times New Roman"/>
              </a:rPr>
              <a:t>Surveillance Awareness:</a:t>
            </a:r>
            <a:br/>
            <a:r>
              <a:rPr b="0" lang="en-US" sz="2000" spc="-1" strike="noStrike">
                <a:solidFill>
                  <a:srgbClr val="000000"/>
                </a:solidFill>
                <a:latin typeface="Times New Roman"/>
              </a:rPr>
              <a:t>The system helps in detecting hidden IR cameras in sensitive areas such as hotels, changing rooms, offices, and rental spaces, ensuring user privacy and safety. </a:t>
            </a:r>
            <a:endParaRPr b="0" lang="en-US" sz="2000" spc="-1" strike="noStrike">
              <a:latin typeface="Arial"/>
            </a:endParaRPr>
          </a:p>
          <a:p>
            <a:pPr marL="216000" indent="-216000">
              <a:lnSpc>
                <a:spcPct val="100000"/>
              </a:lnSpc>
              <a:buClr>
                <a:srgbClr val="000000"/>
              </a:buClr>
              <a:buFont typeface="Arial"/>
              <a:buChar char="•"/>
            </a:pPr>
            <a:r>
              <a:rPr b="1" lang="en-US" sz="2000" spc="-1" strike="noStrike">
                <a:solidFill>
                  <a:srgbClr val="000000"/>
                </a:solidFill>
                <a:latin typeface="Times New Roman"/>
              </a:rPr>
              <a:t>Educational Demonstration:</a:t>
            </a:r>
            <a:br/>
            <a:r>
              <a:rPr b="0" lang="en-US" sz="2000" spc="-1" strike="noStrike">
                <a:solidFill>
                  <a:srgbClr val="000000"/>
                </a:solidFill>
                <a:latin typeface="Times New Roman"/>
              </a:rPr>
              <a:t>It can be used as an academic tool to demonstrate concepts like RF sensing, IR detection, signal processing, and embedded system design using ESP32. </a:t>
            </a:r>
            <a:endParaRPr b="0" lang="en-US" sz="2000" spc="-1" strike="noStrike">
              <a:latin typeface="Arial"/>
            </a:endParaRPr>
          </a:p>
          <a:p>
            <a:pPr marL="216000" indent="-216000">
              <a:lnSpc>
                <a:spcPct val="100000"/>
              </a:lnSpc>
              <a:buClr>
                <a:srgbClr val="000000"/>
              </a:buClr>
              <a:buFont typeface="Arial"/>
              <a:buChar char="•"/>
            </a:pPr>
            <a:r>
              <a:rPr b="1" lang="en-US" sz="2000" spc="-1" strike="noStrike">
                <a:solidFill>
                  <a:srgbClr val="000000"/>
                </a:solidFill>
                <a:latin typeface="Times New Roman"/>
              </a:rPr>
              <a:t>Security Research:</a:t>
            </a:r>
            <a:br/>
            <a:r>
              <a:rPr b="0" lang="en-US" sz="2000" spc="-1" strike="noStrike">
                <a:solidFill>
                  <a:srgbClr val="000000"/>
                </a:solidFill>
                <a:latin typeface="Times New Roman"/>
              </a:rPr>
              <a:t>Useful for studying RF signals and analyzing wireless surveillance devices, helping researchers understand hidden camera technologies and detection methods. </a:t>
            </a:r>
            <a:endParaRPr b="0" lang="en-US" sz="2000" spc="-1" strike="noStrike">
              <a:latin typeface="Arial"/>
            </a:endParaRPr>
          </a:p>
          <a:p>
            <a:pPr marL="216000" indent="-216000">
              <a:lnSpc>
                <a:spcPct val="100000"/>
              </a:lnSpc>
              <a:buClr>
                <a:srgbClr val="000000"/>
              </a:buClr>
              <a:buFont typeface="Arial"/>
              <a:buChar char="•"/>
            </a:pPr>
            <a:r>
              <a:rPr b="1" lang="en-US" sz="2000" spc="-1" strike="noStrike">
                <a:solidFill>
                  <a:srgbClr val="000000"/>
                </a:solidFill>
                <a:latin typeface="Times New Roman"/>
              </a:rPr>
              <a:t>IR Communication Understanding:</a:t>
            </a:r>
            <a:br/>
            <a:r>
              <a:rPr b="0" lang="en-US" sz="2000" spc="-1" strike="noStrike">
                <a:solidFill>
                  <a:srgbClr val="000000"/>
                </a:solidFill>
                <a:latin typeface="Times New Roman"/>
              </a:rPr>
              <a:t>Demonstrates practical implementation of IR communication (around 38 kHz), similar to remote control systems, enhancing learning in electronics and communication. </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CustomShape 1"/>
          <p:cNvSpPr/>
          <p:nvPr/>
        </p:nvSpPr>
        <p:spPr>
          <a:xfrm>
            <a:off x="838080" y="365040"/>
            <a:ext cx="10514880" cy="1324800"/>
          </a:xfrm>
          <a:prstGeom prst="rect">
            <a:avLst/>
          </a:prstGeom>
          <a:noFill/>
          <a:ln>
            <a:noFill/>
          </a:ln>
        </p:spPr>
        <p:style>
          <a:lnRef idx="0"/>
          <a:fillRef idx="0"/>
          <a:effectRef idx="0"/>
          <a:fontRef idx="minor"/>
        </p:style>
        <p:txBody>
          <a:bodyPr lIns="90000" rIns="90000" tIns="45000" bIns="45000" anchor="ctr">
            <a:normAutofit/>
          </a:bodyPr>
          <a:p>
            <a:pPr>
              <a:lnSpc>
                <a:spcPct val="90000"/>
              </a:lnSpc>
            </a:pPr>
            <a:r>
              <a:rPr b="0" lang="en-US" sz="3200" spc="-1" strike="noStrike">
                <a:solidFill>
                  <a:srgbClr val="000000"/>
                </a:solidFill>
                <a:latin typeface="Times New Roman"/>
              </a:rPr>
              <a:t>FUTURE</a:t>
            </a:r>
            <a:r>
              <a:rPr b="0" lang="en-US" sz="3600" spc="-1" strike="noStrike">
                <a:solidFill>
                  <a:srgbClr val="000000"/>
                </a:solidFill>
                <a:latin typeface="Times New Roman"/>
              </a:rPr>
              <a:t> </a:t>
            </a:r>
            <a:r>
              <a:rPr b="0" lang="en-US" sz="3200" spc="-1" strike="noStrike">
                <a:solidFill>
                  <a:srgbClr val="000000"/>
                </a:solidFill>
                <a:latin typeface="Times New Roman"/>
              </a:rPr>
              <a:t>SCOPE</a:t>
            </a:r>
            <a:endParaRPr b="0" lang="en-US" sz="3200" spc="-1" strike="noStrike">
              <a:latin typeface="Arial"/>
            </a:endParaRPr>
          </a:p>
        </p:txBody>
      </p:sp>
      <p:sp>
        <p:nvSpPr>
          <p:cNvPr id="119" name="CustomShape 2"/>
          <p:cNvSpPr/>
          <p:nvPr/>
        </p:nvSpPr>
        <p:spPr>
          <a:xfrm>
            <a:off x="838080" y="1825560"/>
            <a:ext cx="10514880" cy="4350600"/>
          </a:xfrm>
          <a:prstGeom prst="rect">
            <a:avLst/>
          </a:prstGeom>
          <a:noFill/>
          <a:ln>
            <a:noFill/>
          </a:ln>
        </p:spPr>
        <p:style>
          <a:lnRef idx="0"/>
          <a:fillRef idx="0"/>
          <a:effectRef idx="0"/>
          <a:fontRef idx="minor"/>
        </p:style>
        <p:txBody>
          <a:bodyPr lIns="90000" rIns="90000" tIns="45000" bIns="45000">
            <a:normAutofit/>
          </a:bodyPr>
          <a:p>
            <a:pPr marL="216000" indent="-216000">
              <a:lnSpc>
                <a:spcPct val="90000"/>
              </a:lnSpc>
              <a:spcBef>
                <a:spcPts val="1001"/>
              </a:spcBef>
              <a:buClr>
                <a:srgbClr val="000000"/>
              </a:buClr>
              <a:buSzPct val="45000"/>
              <a:buFont typeface="Wingdings" charset="2"/>
              <a:buChar char=""/>
            </a:pPr>
            <a:r>
              <a:rPr b="0" lang="en-US" sz="2000" spc="-1" strike="noStrike">
                <a:solidFill>
                  <a:srgbClr val="000000"/>
                </a:solidFill>
                <a:latin typeface="Times New Roman"/>
              </a:rPr>
              <a:t>Improve detection range and accuracy using directional antennas or antenna arrays</a:t>
            </a:r>
            <a:endParaRPr b="0" lang="en-US" sz="2000" spc="-1" strike="noStrike">
              <a:latin typeface="Arial"/>
            </a:endParaRPr>
          </a:p>
          <a:p>
            <a:pPr marL="216000" indent="-216000">
              <a:lnSpc>
                <a:spcPct val="90000"/>
              </a:lnSpc>
              <a:spcBef>
                <a:spcPts val="1001"/>
              </a:spcBef>
              <a:buClr>
                <a:srgbClr val="000000"/>
              </a:buClr>
              <a:buSzPct val="45000"/>
              <a:buFont typeface="Wingdings" charset="2"/>
              <a:buChar char=""/>
            </a:pPr>
            <a:r>
              <a:rPr b="0" lang="en-US" sz="2000" spc="-1" strike="noStrike">
                <a:solidFill>
                  <a:srgbClr val="000000"/>
                </a:solidFill>
                <a:latin typeface="Times New Roman"/>
              </a:rPr>
              <a:t>Use frequency filters to distinguish Wi-Fi, Bluetooth, and cellular signals</a:t>
            </a:r>
            <a:endParaRPr b="0" lang="en-US" sz="2000" spc="-1" strike="noStrike">
              <a:latin typeface="Arial"/>
            </a:endParaRPr>
          </a:p>
          <a:p>
            <a:pPr marL="216000" indent="-216000">
              <a:lnSpc>
                <a:spcPct val="90000"/>
              </a:lnSpc>
              <a:spcBef>
                <a:spcPts val="1001"/>
              </a:spcBef>
              <a:buClr>
                <a:srgbClr val="000000"/>
              </a:buClr>
              <a:buSzPct val="45000"/>
              <a:buFont typeface="Wingdings" charset="2"/>
              <a:buChar char=""/>
            </a:pPr>
            <a:r>
              <a:rPr b="0" lang="en-US" sz="2000" spc="-1" strike="noStrike">
                <a:solidFill>
                  <a:srgbClr val="000000"/>
                </a:solidFill>
                <a:latin typeface="Times New Roman"/>
              </a:rPr>
              <a:t>Extend frequency range beyond 1–2.4 GHz to detect advanced devices</a:t>
            </a:r>
            <a:endParaRPr b="0" lang="en-US" sz="2000" spc="-1" strike="noStrike">
              <a:latin typeface="Arial"/>
            </a:endParaRPr>
          </a:p>
          <a:p>
            <a:pPr marL="216000" indent="-216000">
              <a:lnSpc>
                <a:spcPct val="90000"/>
              </a:lnSpc>
              <a:spcBef>
                <a:spcPts val="1001"/>
              </a:spcBef>
              <a:buClr>
                <a:srgbClr val="000000"/>
              </a:buClr>
              <a:buSzPct val="45000"/>
              <a:buFont typeface="Wingdings" charset="2"/>
              <a:buChar char=""/>
            </a:pPr>
            <a:r>
              <a:rPr b="0" lang="en-US" sz="2000" spc="-1" strike="noStrike">
                <a:solidFill>
                  <a:srgbClr val="000000"/>
                </a:solidFill>
                <a:latin typeface="Times New Roman"/>
              </a:rPr>
              <a:t>Develop a mobile app for remote monitoring and real-time alerts</a:t>
            </a:r>
            <a:endParaRPr b="0" lang="en-US" sz="2000" spc="-1" strike="noStrike">
              <a:latin typeface="Arial"/>
            </a:endParaRPr>
          </a:p>
          <a:p>
            <a:pPr marL="216000" indent="-216000">
              <a:lnSpc>
                <a:spcPct val="90000"/>
              </a:lnSpc>
              <a:spcBef>
                <a:spcPts val="1001"/>
              </a:spcBef>
              <a:buClr>
                <a:srgbClr val="000000"/>
              </a:buClr>
              <a:buSzPct val="45000"/>
              <a:buFont typeface="Wingdings" charset="2"/>
              <a:buChar char=""/>
            </a:pPr>
            <a:r>
              <a:rPr b="0" lang="en-US" sz="2000" spc="-1" strike="noStrike">
                <a:solidFill>
                  <a:srgbClr val="000000"/>
                </a:solidFill>
                <a:latin typeface="Times New Roman"/>
              </a:rPr>
              <a:t>Make the system battery-powered with low-power optimization for portability</a:t>
            </a:r>
            <a:endParaRPr b="0" lang="en-US" sz="2000" spc="-1" strike="noStrike">
              <a:latin typeface="Arial"/>
            </a:endParaRPr>
          </a:p>
          <a:p>
            <a:pPr marL="216000" indent="-216000">
              <a:lnSpc>
                <a:spcPct val="90000"/>
              </a:lnSpc>
              <a:spcBef>
                <a:spcPts val="1001"/>
              </a:spcBef>
              <a:buClr>
                <a:srgbClr val="000000"/>
              </a:buClr>
              <a:buSzPct val="45000"/>
              <a:buFont typeface="Wingdings" charset="2"/>
              <a:buChar char=""/>
            </a:pPr>
            <a:r>
              <a:rPr b="0" lang="en-US" sz="2000" spc="-1" strike="noStrike">
                <a:solidFill>
                  <a:srgbClr val="000000"/>
                </a:solidFill>
                <a:latin typeface="Times New Roman"/>
              </a:rPr>
              <a:t>Apply AI/ML techniques for better signal classification and reduced false alarms</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0" name="" descr=""/>
          <p:cNvPicPr/>
          <p:nvPr/>
        </p:nvPicPr>
        <p:blipFill>
          <a:blip r:embed="rId1"/>
          <a:stretch/>
        </p:blipFill>
        <p:spPr>
          <a:xfrm rot="13200">
            <a:off x="1470240" y="949680"/>
            <a:ext cx="9263160" cy="4505400"/>
          </a:xfrm>
          <a:prstGeom prst="rect">
            <a:avLst/>
          </a:prstGeom>
          <a:ln>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CustomShape 1"/>
          <p:cNvSpPr/>
          <p:nvPr/>
        </p:nvSpPr>
        <p:spPr>
          <a:xfrm>
            <a:off x="838080" y="365040"/>
            <a:ext cx="10514880" cy="1324800"/>
          </a:xfrm>
          <a:prstGeom prst="rect">
            <a:avLst/>
          </a:prstGeom>
          <a:noFill/>
          <a:ln>
            <a:noFill/>
          </a:ln>
        </p:spPr>
        <p:style>
          <a:lnRef idx="0"/>
          <a:fillRef idx="0"/>
          <a:effectRef idx="0"/>
          <a:fontRef idx="minor"/>
        </p:style>
        <p:txBody>
          <a:bodyPr lIns="90000" rIns="90000" tIns="45000" bIns="45000" anchor="ctr">
            <a:normAutofit/>
          </a:bodyPr>
          <a:p>
            <a:pPr>
              <a:lnSpc>
                <a:spcPct val="90000"/>
              </a:lnSpc>
            </a:pPr>
            <a:r>
              <a:rPr b="0" lang="en-US" sz="3600" spc="-1" strike="noStrike">
                <a:solidFill>
                  <a:srgbClr val="000000"/>
                </a:solidFill>
                <a:latin typeface="Times New Roman"/>
              </a:rPr>
              <a:t>Conclusion</a:t>
            </a:r>
            <a:endParaRPr b="0" lang="en-US" sz="3600" spc="-1" strike="noStrike">
              <a:latin typeface="Arial"/>
            </a:endParaRPr>
          </a:p>
        </p:txBody>
      </p:sp>
      <p:sp>
        <p:nvSpPr>
          <p:cNvPr id="122" name="CustomShape 2"/>
          <p:cNvSpPr/>
          <p:nvPr/>
        </p:nvSpPr>
        <p:spPr>
          <a:xfrm>
            <a:off x="838080" y="1825560"/>
            <a:ext cx="10514880" cy="4350600"/>
          </a:xfrm>
          <a:prstGeom prst="rect">
            <a:avLst/>
          </a:prstGeom>
          <a:noFill/>
          <a:ln>
            <a:noFill/>
          </a:ln>
        </p:spPr>
        <p:style>
          <a:lnRef idx="0"/>
          <a:fillRef idx="0"/>
          <a:effectRef idx="0"/>
          <a:fontRef idx="minor"/>
        </p:style>
        <p:txBody>
          <a:bodyPr lIns="90000" rIns="90000" tIns="45000" bIns="45000">
            <a:normAutofit/>
          </a:bodyPr>
          <a:p>
            <a:pPr>
              <a:lnSpc>
                <a:spcPct val="90000"/>
              </a:lnSpc>
              <a:spcBef>
                <a:spcPts val="1001"/>
              </a:spcBef>
            </a:pPr>
            <a:r>
              <a:rPr b="0" lang="en-US" sz="2000" spc="-1" strike="noStrike">
                <a:solidFill>
                  <a:srgbClr val="000000"/>
                </a:solidFill>
                <a:latin typeface="Times New Roman"/>
              </a:rPr>
              <a:t>This project develops a Dual-Mode Hidden Surveillance Detection System using RF and IR sensing with an ESP32. It detects wireless cameras in the 1–2.4 GHz range and identifies night-vision cameras through infrared signals.</a:t>
            </a:r>
            <a:endParaRPr b="0" lang="en-US" sz="2000" spc="-1" strike="noStrike">
              <a:latin typeface="Arial"/>
            </a:endParaRPr>
          </a:p>
          <a:p>
            <a:pPr>
              <a:lnSpc>
                <a:spcPct val="90000"/>
              </a:lnSpc>
              <a:spcBef>
                <a:spcPts val="1001"/>
              </a:spcBef>
            </a:pPr>
            <a:endParaRPr b="0" lang="en-US" sz="2000" spc="-1" strike="noStrike">
              <a:latin typeface="Arial"/>
            </a:endParaRPr>
          </a:p>
          <a:p>
            <a:pPr>
              <a:lnSpc>
                <a:spcPct val="90000"/>
              </a:lnSpc>
              <a:spcBef>
                <a:spcPts val="1001"/>
              </a:spcBef>
            </a:pPr>
            <a:r>
              <a:rPr b="0" lang="en-US" sz="2000" spc="-1" strike="noStrike">
                <a:solidFill>
                  <a:srgbClr val="000000"/>
                </a:solidFill>
                <a:latin typeface="Times New Roman"/>
              </a:rPr>
              <a:t>By combining both methods, the system improves accuracy and reduces false alarms compared to single-mode systems. The integration of components like the AD8318, IR sensor, OLED display, and buzzer enables real-time detection and alerts.</a:t>
            </a:r>
            <a:endParaRPr b="0" lang="en-US" sz="2000" spc="-1" strike="noStrike">
              <a:latin typeface="Arial"/>
            </a:endParaRPr>
          </a:p>
          <a:p>
            <a:pPr>
              <a:lnSpc>
                <a:spcPct val="90000"/>
              </a:lnSpc>
              <a:spcBef>
                <a:spcPts val="1001"/>
              </a:spcBef>
            </a:pPr>
            <a:endParaRPr b="0" lang="en-US" sz="2000" spc="-1" strike="noStrike">
              <a:latin typeface="Arial"/>
            </a:endParaRPr>
          </a:p>
          <a:p>
            <a:pPr>
              <a:lnSpc>
                <a:spcPct val="90000"/>
              </a:lnSpc>
              <a:spcBef>
                <a:spcPts val="1001"/>
              </a:spcBef>
            </a:pPr>
            <a:r>
              <a:rPr b="0" lang="en-US" sz="2000" spc="-1" strike="noStrike">
                <a:solidFill>
                  <a:srgbClr val="000000"/>
                </a:solidFill>
                <a:latin typeface="Times New Roman"/>
              </a:rPr>
              <a:t>Overall, the system is low-cost, efficient, and reliable, providing a practical solution for enhancing privacy and security, with scope for future improvements.</a:t>
            </a:r>
            <a:endParaRPr b="0" lang="en-US" sz="2000" spc="-1" strike="noStrike">
              <a:latin typeface="Arial"/>
            </a:endParaRPr>
          </a:p>
          <a:p>
            <a:pPr>
              <a:lnSpc>
                <a:spcPct val="90000"/>
              </a:lnSpc>
              <a:spcBef>
                <a:spcPts val="1001"/>
              </a:spcBef>
            </a:pP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3" name="Content Placeholder 7" descr=""/>
          <p:cNvPicPr/>
          <p:nvPr/>
        </p:nvPicPr>
        <p:blipFill>
          <a:blip r:embed="rId1"/>
          <a:stretch/>
        </p:blipFill>
        <p:spPr>
          <a:xfrm>
            <a:off x="1097280" y="568800"/>
            <a:ext cx="9437760" cy="5607360"/>
          </a:xfrm>
          <a:prstGeom prst="rect">
            <a:avLst/>
          </a:prstGeom>
          <a:ln>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22</TotalTime>
  <Application>XLSX_Editor/6.2.8.2$Windows_x86 LibreOffice_project/</Application>
  <Words>1479</Words>
  <Paragraphs>76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2026-04-23T18:55:42Z</dcterms:created>
  <dc:creator>yaswanth varasai</dc:creator>
  <dc:description/>
  <dc:language>en-US</dc:language>
  <cp:lastModifiedBy/>
  <dcterms:modified xsi:type="dcterms:W3CDTF">2026-04-24T09:24:03Z</dcterms:modified>
  <cp:revision>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0</vt:bool>
  </property>
  <property fmtid="{D5CDD505-2E9C-101B-9397-08002B2CF9AE}" pid="10" name="ShareDoc">
    <vt:bool>0</vt:bool>
  </property>
  <property fmtid="{D5CDD505-2E9C-101B-9397-08002B2CF9AE}" pid="11" name="Slides">
    <vt:i4>15</vt:i4>
  </property>
</Properties>
</file>